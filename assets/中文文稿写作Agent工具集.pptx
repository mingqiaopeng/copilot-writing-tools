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720"/>
              </a:lnSpc>
              <a:spcAft>
                <a:spcPts val="0"/>
              </a:spcAft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中文文稿写作 Agent 工具集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0"/>
              </a:spcAft>
              <a:defRPr sz="2000" b="0">
                <a:solidFill>
                  <a:srgbClr val="BDCEE0"/>
                </a:solidFill>
                <a:latin typeface="微软雅黑"/>
              </a:defRPr>
            </a:pPr>
            <a:r>
              <a:t>专为现代中文非虚构严肃文稿写作设计的 AI 辅助工具链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85A5C7"/>
                </a:solidFill>
                <a:latin typeface="微软雅黑"/>
              </a:defRPr>
            </a:pPr>
            <a:r>
              <a:t>4 个 Agent  ·  18 个 Skill  ·  基于 GitHub Copilot Agent Skills 开放规范  ·  本地优先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85A5C7"/>
                </a:solidFill>
                <a:latin typeface="微软雅黑"/>
              </a:defRPr>
            </a:pPr>
            <a:r>
              <a:t>从头脑风暴到最终校阅，一站式覆盖完整写作流程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行业背景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中文 AI 写作的六大痛点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3474720" cy="2194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0"/>
              </a:spcAft>
              <a:defRPr sz="1800" b="0">
                <a:solidFill>
                  <a:srgbClr val="E67E22"/>
                </a:solidFill>
                <a:latin typeface="微软雅黑"/>
              </a:defRPr>
            </a:pPr>
            <a:r>
              <a:t>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"AI味儿"挥之不去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2C3E50"/>
                </a:solidFill>
                <a:latin typeface="微软雅黑"/>
              </a:defRPr>
            </a:pPr>
            <a:r>
              <a:t>过度使用"在……的背景下""随着……的发展"等句式，</a:t>
            </a:r>
            <a:br/>
            <a:r>
              <a:t>形容词堆砌，每段结尾习惯性升华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37160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389888"/>
            <a:ext cx="3474720" cy="2194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7160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0"/>
              </a:spcAft>
              <a:defRPr sz="1800" b="0">
                <a:solidFill>
                  <a:srgbClr val="E67E22"/>
                </a:solidFill>
                <a:latin typeface="微软雅黑"/>
              </a:defRPr>
            </a:pPr>
            <a: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"新八股"文风泛滥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2C3E50"/>
                </a:solidFill>
                <a:latin typeface="微软雅黑"/>
              </a:defRPr>
            </a:pPr>
            <a:r>
              <a:t>AI 文本高度趋同——排比起手、首先其次、</a:t>
            </a:r>
            <a:br/>
            <a:r>
              <a:t>综上所述收尾，结构可预测、修辞空洞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47888" y="1389888"/>
            <a:ext cx="3474720" cy="2194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37160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0"/>
              </a:spcAft>
              <a:defRPr sz="1800" b="0">
                <a:solidFill>
                  <a:srgbClr val="E67E22"/>
                </a:solidFill>
                <a:latin typeface="微软雅黑"/>
              </a:defRPr>
            </a:pPr>
            <a:r>
              <a:t>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长文章逻辑断裂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2C3E50"/>
                </a:solidFill>
                <a:latin typeface="微软雅黑"/>
              </a:defRPr>
            </a:pPr>
            <a:r>
              <a:t>篇幅突破2000字后段落间逻辑一致性</a:t>
            </a:r>
            <a:br/>
            <a:r>
              <a:t>急剧下降，论据跳跃、前后矛盾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93192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950208"/>
            <a:ext cx="3474720" cy="2194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93192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0"/>
              </a:spcAft>
              <a:defRPr sz="1800" b="0">
                <a:solidFill>
                  <a:srgbClr val="E67E22"/>
                </a:solidFill>
                <a:latin typeface="微软雅黑"/>
              </a:defRPr>
            </a:pPr>
            <a:r>
              <a:t>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结构化诊断缺失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66344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2C3E50"/>
                </a:solidFill>
                <a:latin typeface="微软雅黑"/>
              </a:defRPr>
            </a:pPr>
            <a:r>
              <a:t>现有工具擅长"续写"和"改写"，但无法</a:t>
            </a:r>
            <a:br/>
            <a:r>
              <a:t>系统性诊断文稿层次结构是否合理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93192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7408" y="3950208"/>
            <a:ext cx="3474720" cy="2194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93192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0"/>
              </a:spcAft>
              <a:defRPr sz="1800" b="0">
                <a:solidFill>
                  <a:srgbClr val="E67E22"/>
                </a:solidFill>
                <a:latin typeface="微软雅黑"/>
              </a:defRPr>
            </a:pPr>
            <a:r>
              <a:t>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知识库利用不足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66344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2C3E50"/>
                </a:solidFill>
                <a:latin typeface="微软雅黑"/>
              </a:defRPr>
            </a:pPr>
            <a:r>
              <a:t>写作者的本地笔记、参考材料无法被</a:t>
            </a:r>
            <a:br/>
            <a:r>
              <a:t>AI 有效利用，私有积累派不上用场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93192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950208"/>
            <a:ext cx="3474720" cy="2194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3931920"/>
            <a:ext cx="34747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0"/>
              </a:spcAft>
              <a:defRPr sz="1800" b="0">
                <a:solidFill>
                  <a:srgbClr val="E67E22"/>
                </a:solidFill>
                <a:latin typeface="微软雅黑"/>
              </a:defRPr>
            </a:pPr>
            <a:r>
              <a:t>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工作流割裂分散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66344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2C3E50"/>
                </a:solidFill>
                <a:latin typeface="微软雅黑"/>
              </a:defRPr>
            </a:pPr>
            <a:r>
              <a:t>构思、起草、审核各用不同工具，</a:t>
            </a:r>
            <a:br/>
            <a:r>
              <a:t>每次切换平台上下文丢失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现有方案对比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011680"/>
                <a:gridCol w="3200400"/>
                <a:gridCol w="4114800"/>
              </a:tblGrid>
              <a:tr h="9509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代表产品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优势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短板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🌐 Web 写作助手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秘塔写作猫、笔灵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模板丰富、开箱即用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无法嵌入编辑器，擅长改写</a:t>
                      </a:r>
                    </a:p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而非原创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💬 大模型对话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通义千问、DeepSeek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通用能力强、超长上下文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无结构化写作流程，</a:t>
                      </a:r>
                    </a:p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输出质量依赖 prompt 技巧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📎 办公插件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火龙果 Pitaya、火山写作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嵌入 Word/WPS，校对便捷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聚焦润色和校阅，缺乏构思</a:t>
                      </a:r>
                    </a:p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和结构分析能力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📖 AI 小说工具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novel-writer、InkOS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长文本管线成熟，</a:t>
                      </a:r>
                    </a:p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多 Agent 协作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面向网文小说，</a:t>
                      </a:r>
                    </a:p>
                    <a:p>
                      <a:pPr>
                        <a:defRPr sz="1200" b="0">
                          <a:solidFill>
                            <a:srgbClr val="2C3E50"/>
                          </a:solidFill>
                          <a:latin typeface="微软雅黑"/>
                        </a:defRPr>
                      </a:pPr>
                      <a:r>
                        <a:t>非虚构文稿场景不适用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设计理念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"不造新平台，打造写作 IDE"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0"/>
              </a:spcAft>
              <a:defRPr sz="2200" b="1">
                <a:solidFill>
                  <a:srgbClr val="1B4F72"/>
                </a:solidFill>
                <a:latin typeface="微软雅黑"/>
              </a:defRPr>
            </a:pPr>
            <a:r>
              <a:t>VS Code + GitHub Copilot = 写作者的 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4864" cy="6400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0"/>
              </a:spcAft>
              <a:defRPr sz="1600" b="1">
                <a:solidFill>
                  <a:srgbClr val="2E86C1"/>
                </a:solidFill>
                <a:latin typeface="微软雅黑"/>
              </a:defRPr>
            </a:pPr>
            <a:r>
              <a:t>一体化平台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1945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文件管理、编辑器、终端、Git 集成、Copilot Chat，构思到定稿不切换软件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39"/>
            <a:ext cx="54864" cy="6400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918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0"/>
              </a:spcAft>
              <a:defRPr sz="1600" b="1">
                <a:solidFill>
                  <a:srgbClr val="2E86C1"/>
                </a:solidFill>
                <a:latin typeface="微软雅黑"/>
              </a:defRPr>
            </a:pPr>
            <a:r>
              <a:t>全球最流行的文本编辑器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291839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市场占有率第一，中文支持完善，插件生态丰富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89120"/>
            <a:ext cx="54864" cy="6400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0"/>
              </a:spcAft>
              <a:defRPr sz="1600" b="1">
                <a:solidFill>
                  <a:srgbClr val="2E86C1"/>
                </a:solidFill>
                <a:latin typeface="微软雅黑"/>
              </a:defRPr>
            </a:pPr>
            <a:r>
              <a:t>零费用可用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891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GitHub Copilot 免费额度覆盖轻度到中度使用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486400"/>
            <a:ext cx="54864" cy="6400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0"/>
              </a:spcAft>
              <a:defRPr sz="1600" b="1">
                <a:solidFill>
                  <a:srgbClr val="2E86C1"/>
                </a:solidFill>
                <a:latin typeface="微软雅黑"/>
              </a:defRPr>
            </a:pPr>
            <a:r>
              <a:t>支持本地模型与离线部署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548640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可接入本地大模型，满足数据安全要求高的写作场景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技术栈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1188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🖥️ 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VS Code + GitHub Copilot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371600"/>
            <a:ext cx="54864" cy="1188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📐 规范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Agent Skills 开放规范（SKILL.md + .agent.md）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2608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926080"/>
            <a:ext cx="54864" cy="1188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0175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🧠 触发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832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语义匹配——说人话自动触发，无需记命令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92608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926080"/>
            <a:ext cx="54864" cy="1188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0175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🔍 搜索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832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Everything (es.exe) + ripgrep 纯本地搜索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480560"/>
            <a:ext cx="54864" cy="1188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💎 素材库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377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JSONL 修辞句子库，MCP 工具搜索匹配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48056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4480560"/>
            <a:ext cx="54864" cy="1188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500" b="1">
                <a:solidFill>
                  <a:srgbClr val="1B4F72"/>
                </a:solidFill>
                <a:latin typeface="微软雅黑"/>
              </a:defRPr>
            </a:pPr>
            <a:r>
              <a:t>🔌 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9377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MCP 服务器桥接本地工具与修辞库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四大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人格化写作伙伴——只诊断，不修改文件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65176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5176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60"/>
              </a:lnSpc>
              <a:spcAft>
                <a:spcPts val="0"/>
              </a:spcAft>
              <a:defRPr sz="3200" b="0">
                <a:solidFill>
                  <a:srgbClr val="E67E22"/>
                </a:solidFill>
                <a:latin typeface="微软雅黑"/>
              </a:defRPr>
            </a:pPr>
            <a:r>
              <a:t>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spcAft>
                <a:spcPts val="0"/>
              </a:spcAft>
              <a:defRPr sz="2000" b="1">
                <a:solidFill>
                  <a:srgbClr val="1B4F72"/>
                </a:solidFill>
                <a:latin typeface="微软雅黑"/>
              </a:defRPr>
            </a:pPr>
            <a:r>
              <a:t>点子王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2E86C1"/>
                </a:solidFill>
                <a:latin typeface="微软雅黑"/>
              </a:defRPr>
            </a:pPr>
            <a:r>
              <a:t>创意写作顾问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00400"/>
            <a:ext cx="1920240" cy="18288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头脑风暴、想点子、</a:t>
            </a:r>
            <a:br/>
            <a:r>
              <a:t>写作思路、灵感发散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spcAft>
                <a:spcPts val="0"/>
              </a:spcAft>
              <a:defRPr sz="1000" b="0">
                <a:solidFill>
                  <a:srgbClr val="7F8C8D"/>
                </a:solidFill>
                <a:latin typeface="微软雅黑"/>
              </a:defRPr>
            </a:pPr>
            <a:r>
              <a:t>↳ 诊断后推荐 Skill 执行修改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371600"/>
            <a:ext cx="265176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371600"/>
            <a:ext cx="265176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6459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60"/>
              </a:lnSpc>
              <a:spcAft>
                <a:spcPts val="0"/>
              </a:spcAft>
              <a:defRPr sz="3200" b="0">
                <a:solidFill>
                  <a:srgbClr val="E67E22"/>
                </a:solidFill>
                <a:latin typeface="微软雅黑"/>
              </a:defRPr>
            </a:pPr>
            <a:r>
              <a:t>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860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spcAft>
                <a:spcPts val="0"/>
              </a:spcAft>
              <a:defRPr sz="2000" b="1">
                <a:solidFill>
                  <a:srgbClr val="1B4F72"/>
                </a:solidFill>
                <a:latin typeface="微软雅黑"/>
              </a:defRPr>
            </a:pPr>
            <a:r>
              <a:t>批判家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7432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2E86C1"/>
                </a:solidFill>
                <a:latin typeface="微软雅黑"/>
              </a:defRPr>
            </a:pPr>
            <a:r>
              <a:t>严苛文稿审核专家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3200400"/>
            <a:ext cx="1920240" cy="18288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47472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出版级标准四维度审查、</a:t>
            </a:r>
            <a:br/>
            <a:r>
              <a:t>输出可执行勘误表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spcAft>
                <a:spcPts val="0"/>
              </a:spcAft>
              <a:defRPr sz="1000" b="0">
                <a:solidFill>
                  <a:srgbClr val="7F8C8D"/>
                </a:solidFill>
                <a:latin typeface="微软雅黑"/>
              </a:defRPr>
            </a:pPr>
            <a:r>
              <a:t>↳ 诊断后推荐 Skill 执行修改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265176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371600"/>
            <a:ext cx="265176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6459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60"/>
              </a:lnSpc>
              <a:spcAft>
                <a:spcPts val="0"/>
              </a:spcAft>
              <a:defRPr sz="3200" b="0">
                <a:solidFill>
                  <a:srgbClr val="E67E22"/>
                </a:solidFill>
                <a:latin typeface="微软雅黑"/>
              </a:defRPr>
            </a:pPr>
            <a: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2860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spcAft>
                <a:spcPts val="0"/>
              </a:spcAft>
              <a:defRPr sz="2000" b="1">
                <a:solidFill>
                  <a:srgbClr val="1B4F72"/>
                </a:solidFill>
                <a:latin typeface="微软雅黑"/>
              </a:defRPr>
            </a:pPr>
            <a:r>
              <a:t>分析师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7432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2E86C1"/>
                </a:solidFill>
                <a:latin typeface="微软雅黑"/>
              </a:defRPr>
            </a:pPr>
            <a:r>
              <a:t>文稿结构分析专家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3200400"/>
            <a:ext cx="1920240" cy="18288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47472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语义层次拆解、逻辑关系</a:t>
            </a:r>
            <a:br/>
            <a:r>
              <a:t>梳理、结构诊断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spcAft>
                <a:spcPts val="0"/>
              </a:spcAft>
              <a:defRPr sz="1000" b="0">
                <a:solidFill>
                  <a:srgbClr val="7F8C8D"/>
                </a:solidFill>
                <a:latin typeface="微软雅黑"/>
              </a:defRPr>
            </a:pPr>
            <a:r>
              <a:t>↳ 诊断后推荐 Skill 执行修改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1371600"/>
            <a:ext cx="265176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80" y="1371600"/>
            <a:ext cx="265176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16459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60"/>
              </a:lnSpc>
              <a:spcAft>
                <a:spcPts val="0"/>
              </a:spcAft>
              <a:defRPr sz="3200" b="0">
                <a:solidFill>
                  <a:srgbClr val="E67E22"/>
                </a:solidFill>
                <a:latin typeface="微软雅黑"/>
              </a:defRPr>
            </a:pPr>
            <a:r>
              <a:t>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2860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spcAft>
                <a:spcPts val="0"/>
              </a:spcAft>
              <a:defRPr sz="2000" b="1">
                <a:solidFill>
                  <a:srgbClr val="1B4F72"/>
                </a:solidFill>
                <a:latin typeface="微软雅黑"/>
              </a:defRPr>
            </a:pPr>
            <a:r>
              <a:t>档案员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7432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2E86C1"/>
                </a:solidFill>
                <a:latin typeface="微软雅黑"/>
              </a:defRPr>
            </a:pPr>
            <a:r>
              <a:t>知识库检索专家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64040" y="3200400"/>
            <a:ext cx="1920240" cy="18288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347472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本地知识库文件名</a:t>
            </a:r>
            <a:br/>
            <a:r>
              <a:t>+ 内容精确搜索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spcAft>
                <a:spcPts val="0"/>
              </a:spcAft>
              <a:defRPr sz="1000" b="0">
                <a:solidFill>
                  <a:srgbClr val="7F8C8D"/>
                </a:solidFill>
                <a:latin typeface="微软雅黑"/>
              </a:defRPr>
            </a:pPr>
            <a:r>
              <a:t>↳ 诊断后推荐 Skill 执行修改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18 个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覆盖从构思到润色的完整写作流程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1">
                <a:solidFill>
                  <a:srgbClr val="2E86C1"/>
                </a:solidFill>
                <a:latin typeface="微软雅黑"/>
              </a:defRPr>
            </a:pPr>
            <a:r>
              <a:t>直接修改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写中心句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提炼段落中心句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463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摘要生成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664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生成文章摘要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63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增加过渡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64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添加过渡语句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57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缩减篇幅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585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精简内容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057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扩充篇幅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2585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丰富内容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合并段落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2585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合并相关段落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377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1">
                <a:solidFill>
                  <a:srgbClr val="2E86C1"/>
                </a:solidFill>
                <a:latin typeface="微软雅黑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65760" y="2743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拆分段落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44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拆分过长段落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2743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简化修辞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44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简化华丽修辞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743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增加修辞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40" y="2944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增强修辞手法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神来之笔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库驱动金句嵌入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去除标签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去除 Markdown 标签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校对勘误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0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按勘误表逐条修改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1">
                <a:solidFill>
                  <a:srgbClr val="2E86C1"/>
                </a:solidFill>
                <a:latin typeface="微软雅黑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365760" y="3749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优化句式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950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消除英式中文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3749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✂️ 统一风格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950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统一各部分风格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1">
                <a:solidFill>
                  <a:srgbClr val="2E86C1"/>
                </a:solidFill>
                <a:latin typeface="微软雅黑"/>
              </a:defRPr>
            </a:pPr>
            <a:r>
              <a:t>确认后修改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749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✅ 标题优化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确认后修改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✅ 段落重组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5445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确认后修改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49377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✅ 大纲生成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51389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确认后修改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1">
                <a:solidFill>
                  <a:srgbClr val="2E86C1"/>
                </a:solidFill>
                <a:latin typeface="微软雅黑"/>
              </a:defRPr>
            </a:pPr>
            <a:r>
              <a:t>仅输出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3749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  <a:defRPr sz="1000" b="1">
                <a:solidFill>
                  <a:srgbClr val="2C3E50"/>
                </a:solidFill>
                <a:latin typeface="微软雅黑"/>
              </a:defRPr>
            </a:pPr>
            <a:r>
              <a:t>📄 传达提纲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3950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  <a:defRPr sz="800" b="0">
                <a:solidFill>
                  <a:srgbClr val="7F8C8D"/>
                </a:solidFill>
                <a:latin typeface="微软雅黑"/>
              </a:defRPr>
            </a:pPr>
            <a:r>
              <a:t>仅输出不修改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Agent↔Skill 互推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7F8C8D"/>
                </a:solidFill>
                <a:latin typeface="微软雅黑"/>
              </a:defRPr>
            </a:pPr>
            <a:r>
              <a:t>"诊断 → 推荐 → 修改"闭环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200400" cy="1828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4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微软雅黑"/>
              </a:defRPr>
            </a:pPr>
            <a: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Agent 诊断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BDCEE0"/>
                </a:solidFill>
                <a:latin typeface="微软雅黑"/>
              </a:defRPr>
            </a:pPr>
            <a:r>
              <a:t>点子王 / 批判家 / 分析师</a:t>
            </a:r>
            <a:br/>
            <a:r>
              <a:t>对文稿进行全面诊断分析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9202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E67E22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463040"/>
            <a:ext cx="3200400" cy="1828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4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微软雅黑"/>
              </a:defRPr>
            </a:pPr>
            <a: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推荐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4688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BDCEE0"/>
                </a:solidFill>
                <a:latin typeface="微软雅黑"/>
              </a:defRPr>
            </a:pPr>
            <a:r>
              <a:t>根据诊断结果自动推荐</a:t>
            </a:r>
            <a:br/>
            <a:r>
              <a:t>最匹配的修改工具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9202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E67E22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1463040"/>
            <a:ext cx="3200400" cy="1828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4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微软雅黑"/>
              </a:defRPr>
            </a:pPr>
            <a:r>
              <a:t>✏️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Skill 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688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BDCEE0"/>
                </a:solidFill>
                <a:latin typeface="微软雅黑"/>
              </a:defRPr>
            </a:pPr>
            <a:r>
              <a:t>一键执行修改</a:t>
            </a:r>
            <a:br/>
            <a:r>
              <a:t>直接或确认后修改文件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2C3E50"/>
                </a:solidFill>
                <a:latin typeface="微软雅黑"/>
              </a:defRPr>
            </a:pPr>
            <a:r>
              <a:t>Agent 与 Skill 各司其职——Agent 只诊断不修改，Skill 专攻执行。互推机制让两者无缝衔接。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0"/>
              </a:spcAft>
              <a:defRPr sz="2800" b="1">
                <a:solidFill>
                  <a:srgbClr val="1B4F72"/>
                </a:solidFill>
                <a:latin typeface="微软雅黑"/>
              </a:defRPr>
            </a:pPr>
            <a:r>
              <a:t>推荐工作流程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2011680" cy="9144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Aft>
                <a:spcPts val="0"/>
              </a:spcAft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写作前（构思阶段）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28016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💡 头脑风暴（点子王） → 📋 生成大纲 → ✏️ 优化标题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2011680" cy="9144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Aft>
                <a:spcPts val="0"/>
              </a:spcAft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写作中（起草阶段）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6032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✏️ 扩充篇幅 / 神来之笔 → 🎨 增加修辞 → 🔗 增加过渡</a:t>
            </a:r>
            <a:br/>
            <a:r>
              <a:t>→ 📎 合并段落 / ✂️ 拆分段落 → 🔀 段落重组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39"/>
            <a:ext cx="2011680" cy="9144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8619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Aft>
                <a:spcPts val="0"/>
              </a:spcAft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写作后（审核阶段）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840479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📊 结构分析（分析师） → 🔍 挑毛病（批判家） → 📋 校对勘误</a:t>
            </a:r>
            <a:br/>
            <a:r>
              <a:t>→ 🎯 写中心句 → 📝 生成摘要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29199"/>
            <a:ext cx="2011680" cy="9144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663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0"/>
              </a:lnSpc>
              <a:spcAft>
                <a:spcPts val="0"/>
              </a:spcAft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专项调整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5120639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2C3E50"/>
                </a:solidFill>
                <a:latin typeface="微软雅黑"/>
              </a:defRPr>
            </a:pPr>
            <a:r>
              <a:t>📏 缩减篇幅 / 扩充篇幅  ·  🎨 神来之笔 / 简化修辞</a:t>
            </a:r>
            <a:br/>
            <a:r>
              <a:t>📄 转换成纯文本  ·  🎭 统一风格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54680"/>
            <a:ext cx="12191695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68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核心优势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BDCEE0"/>
                </a:solidFill>
                <a:latin typeface="微软雅黑"/>
              </a:defRPr>
            </a:pPr>
            <a:r>
              <a:t>🔄 全流程覆盖  —  18 个 Skill 覆盖写作每个环节</a:t>
            </a:r>
            <a:br/>
            <a:r>
              <a:t>🔬 结构化诊断  —  中文文稿分层结构与逻辑分析</a:t>
            </a:r>
            <a:br/>
            <a:r>
              <a:t>📝 出版级审核  —  四维度严格把关，输出可执行勘误表</a:t>
            </a:r>
            <a:br/>
            <a:r>
              <a:t>🏠 本地优先  —  所有操作在本地完成，数据不出本地</a:t>
            </a:r>
            <a:br/>
            <a:r>
              <a:t>⚡ 极低上下文开销  —  三层渐进加载节省约 90% Token</a:t>
            </a:r>
            <a:br/>
            <a:r>
              <a:t>🗣️ 自然语言驱动  —  说人话就能触发，无需记命令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85A5C7"/>
                </a:solidFill>
                <a:latin typeface="微软雅黑"/>
              </a:defRPr>
            </a:pPr>
            <a:r>
              <a:t>https://github.com/mingqiaopeng/copilot-writing-tools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