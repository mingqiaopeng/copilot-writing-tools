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57200"/>
            <a:ext cx="137160" cy="137160"/>
          </a:xfrm>
          <a:prstGeom prst="ellipse">
            <a:avLst/>
          </a:prstGeom>
          <a:solidFill>
            <a:srgbClr val="082D4A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</a:p>
        </p:txBody>
      </p:sp>
      <p:sp>
        <p:nvSpPr>
          <p:cNvPr id="5" name="Oval 4"/>
          <p:cNvSpPr/>
          <p:nvPr/>
        </p:nvSpPr>
        <p:spPr>
          <a:xfrm>
            <a:off x="10789920" y="1554480"/>
            <a:ext cx="137160" cy="137160"/>
          </a:xfrm>
          <a:prstGeom prst="ellipse">
            <a:avLst/>
          </a:prstGeom>
          <a:solidFill>
            <a:srgbClr val="082D4A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</a:p>
        </p:txBody>
      </p:sp>
      <p:sp>
        <p:nvSpPr>
          <p:cNvPr id="6" name="Oval 5"/>
          <p:cNvSpPr/>
          <p:nvPr/>
        </p:nvSpPr>
        <p:spPr>
          <a:xfrm>
            <a:off x="10789920" y="2651760"/>
            <a:ext cx="137160" cy="137160"/>
          </a:xfrm>
          <a:prstGeom prst="ellipse">
            <a:avLst/>
          </a:prstGeom>
          <a:solidFill>
            <a:srgbClr val="082D4A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</a:p>
        </p:txBody>
      </p:sp>
      <p:sp>
        <p:nvSpPr>
          <p:cNvPr id="7" name="Oval 6"/>
          <p:cNvSpPr/>
          <p:nvPr/>
        </p:nvSpPr>
        <p:spPr>
          <a:xfrm>
            <a:off x="10789920" y="3749040"/>
            <a:ext cx="137160" cy="137160"/>
          </a:xfrm>
          <a:prstGeom prst="ellipse">
            <a:avLst/>
          </a:prstGeom>
          <a:solidFill>
            <a:srgbClr val="082D4A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</a:p>
        </p:txBody>
      </p:sp>
      <p:sp>
        <p:nvSpPr>
          <p:cNvPr id="8" name="Oval 7"/>
          <p:cNvSpPr/>
          <p:nvPr/>
        </p:nvSpPr>
        <p:spPr>
          <a:xfrm>
            <a:off x="10789920" y="4846320"/>
            <a:ext cx="137160" cy="137160"/>
          </a:xfrm>
          <a:prstGeom prst="ellipse">
            <a:avLst/>
          </a:prstGeom>
          <a:solidFill>
            <a:srgbClr val="082D4A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</a:p>
        </p:txBody>
      </p:sp>
      <p:sp>
        <p:nvSpPr>
          <p:cNvPr id="9" name="Oval 8"/>
          <p:cNvSpPr/>
          <p:nvPr/>
        </p:nvSpPr>
        <p:spPr>
          <a:xfrm>
            <a:off x="10789920" y="5943600"/>
            <a:ext cx="137160" cy="137160"/>
          </a:xfrm>
          <a:prstGeom prst="ellipse">
            <a:avLst/>
          </a:prstGeom>
          <a:solidFill>
            <a:srgbClr val="082D4A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</a:p>
        </p:txBody>
      </p:sp>
      <p:sp>
        <p:nvSpPr>
          <p:cNvPr id="10" name="Oval 9"/>
          <p:cNvSpPr/>
          <p:nvPr/>
        </p:nvSpPr>
        <p:spPr>
          <a:xfrm>
            <a:off x="10972800" y="731520"/>
            <a:ext cx="548640" cy="548640"/>
          </a:xfrm>
          <a:prstGeom prst="ellipse">
            <a:avLst/>
          </a:prstGeom>
          <a:solidFill>
            <a:srgbClr val="082D4A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</a:p>
        </p:txBody>
      </p:sp>
      <p:sp>
        <p:nvSpPr>
          <p:cNvPr id="11" name="Oval 10"/>
          <p:cNvSpPr/>
          <p:nvPr/>
        </p:nvSpPr>
        <p:spPr>
          <a:xfrm>
            <a:off x="11338560" y="1097280"/>
            <a:ext cx="320040" cy="320040"/>
          </a:xfrm>
          <a:prstGeom prst="ellipse">
            <a:avLst/>
          </a:prstGeom>
          <a:solidFill>
            <a:srgbClr val="082D4A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</a:defRPr>
            </a:pPr>
            <a:r>
              <a:rPr>
                <a:ea typeface="微软雅黑"/>
              </a:rPr>
              <a:t>中文文稿写作</a:t>
            </a:r>
            <a:br/>
            <a:r>
              <a:rPr>
                <a:ea typeface="微软雅黑"/>
              </a:rPr>
              <a:t>Agent 工具集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200400"/>
            <a:ext cx="3200400" cy="38100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3474720"/>
            <a:ext cx="9144000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88AACC"/>
                </a:solidFill>
              </a:defRPr>
            </a:pPr>
            <a:r>
              <a:rPr>
                <a:ea typeface="微软雅黑"/>
              </a:rPr>
              <a:t>专为现代中文非虚构严肃文稿写作设计的 AI 辅助工具链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959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799BB"/>
                </a:solidFill>
              </a:defRPr>
            </a:pPr>
            <a:r>
              <a:rPr>
                <a:ea typeface="微软雅黑"/>
              </a:rPr>
              <a:t>4 个 Agent · 19 个 Skill · VS Code + Copilot · 支持 Continue.dev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4846320"/>
            <a:ext cx="8229600" cy="822960"/>
          </a:xfrm>
          <a:prstGeom prst="rect">
            <a:avLst/>
          </a:prstGeom>
          <a:solidFill>
            <a:srgbClr val="082D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4846320"/>
            <a:ext cx="768096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ACCDD"/>
                </a:solidFill>
              </a:defRPr>
            </a:pPr>
            <a:r>
              <a:rPr>
                <a:ea typeface="微软雅黑"/>
              </a:rPr>
              <a:t>知识点：Skill 744 个 + Agent 225 个 = 969 个  |  社区：GitHub Awesome Copilot · skills.sh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6126480"/>
            <a:ext cx="4572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57799"/>
                </a:solidFill>
              </a:defRPr>
            </a:pPr>
            <a:r>
              <a:rPr>
                <a:ea typeface="微软雅黑"/>
              </a:rPr>
              <a:t>v0.1.0  |  MIT License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"/>
            <a:ext cx="10698480" cy="7315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3359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0000"/>
                </a:solidFill>
              </a:defRPr>
            </a:pPr>
            <a:r>
              <a:rPr>
                <a:ea typeface="微软雅黑"/>
              </a:rP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41248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50800" cy="5303520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8720" y="1325880"/>
            <a:ext cx="457200" cy="45720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>
                <a:ea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280160"/>
            <a:ext cx="3657600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</a:defRPr>
            </a:pPr>
            <a:r>
              <a:rPr>
                <a:ea typeface="微软雅黑"/>
              </a:rPr>
              <a:t>行业背景与痛点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325880"/>
            <a:ext cx="53035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959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</a:defRPr>
            </a:pPr>
            <a:r>
              <a:rPr>
                <a:ea typeface="微软雅黑"/>
              </a:rPr>
              <a:t>AI 写作六大痛点与应对策略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1874520"/>
            <a:ext cx="102714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88720" y="2194560"/>
            <a:ext cx="457200" cy="45720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>
                <a:ea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148840"/>
            <a:ext cx="3657600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</a:defRPr>
            </a:pPr>
            <a:r>
              <a:rPr>
                <a:ea typeface="微软雅黑"/>
              </a:rPr>
              <a:t>设计理念与架构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194560"/>
            <a:ext cx="53035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959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</a:defRPr>
            </a:pPr>
            <a:r>
              <a:rPr>
                <a:ea typeface="微软雅黑"/>
              </a:rPr>
              <a:t>Agent↔Skill 分离 · 渐进加载 · 自然语言驱动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0" y="2743200"/>
            <a:ext cx="102714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88720" y="3063240"/>
            <a:ext cx="457200" cy="45720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>
                <a:ea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017520"/>
            <a:ext cx="3657600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</a:defRPr>
            </a:pPr>
            <a:r>
              <a:rPr>
                <a:ea typeface="微软雅黑"/>
              </a:rPr>
              <a:t>四大 Agent 详解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063240"/>
            <a:ext cx="53035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959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</a:defRPr>
            </a:pPr>
            <a:r>
              <a:rPr>
                <a:ea typeface="微软雅黑"/>
              </a:rPr>
              <a:t>点子王 · 批判家 · 分析师 · 档案员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88720" y="3611880"/>
            <a:ext cx="102714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88720" y="3931920"/>
            <a:ext cx="457200" cy="45720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>
                <a:ea typeface="微软雅黑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886200"/>
            <a:ext cx="3657600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</a:defRPr>
            </a:pPr>
            <a:r>
              <a:rPr>
                <a:ea typeface="微软雅黑"/>
              </a:rPr>
              <a:t>19 个 Skill 速查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931920"/>
            <a:ext cx="53035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959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</a:defRPr>
            </a:pPr>
            <a:r>
              <a:rPr>
                <a:ea typeface="微软雅黑"/>
              </a:rPr>
              <a:t>从构思到润色的完整写作流程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88720" y="4480560"/>
            <a:ext cx="102714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88720" y="4800600"/>
            <a:ext cx="457200" cy="45720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>
                <a:ea typeface="微软雅黑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754880"/>
            <a:ext cx="3657600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</a:defRPr>
            </a:pPr>
            <a:r>
              <a:rPr>
                <a:ea typeface="微软雅黑"/>
              </a:rPr>
              <a:t>技术栈与 MCP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800600"/>
            <a:ext cx="53035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959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</a:defRPr>
            </a:pPr>
            <a:r>
              <a:rPr>
                <a:ea typeface="微软雅黑"/>
              </a:rPr>
              <a:t>MCP 搜索服务器 · 本地优先 · 自持配置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88720" y="5349240"/>
            <a:ext cx="102714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88720" y="5669280"/>
            <a:ext cx="457200" cy="45720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>
                <a:ea typeface="微软雅黑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623560"/>
            <a:ext cx="3657600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</a:defRPr>
            </a:pPr>
            <a:r>
              <a:rPr>
                <a:ea typeface="微软雅黑"/>
              </a:rPr>
              <a:t>工作流与适配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5669280"/>
            <a:ext cx="53035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959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</a:defRPr>
            </a:pPr>
            <a:r>
              <a:rPr>
                <a:ea typeface="微软雅黑"/>
              </a:rPr>
              <a:t>推荐工作流程 · 双平台适配（Copilot + Continue）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88720" y="6217920"/>
            <a:ext cx="102714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</a:defRPr>
            </a:pPr>
            <a:r>
              <a:rPr>
                <a:ea typeface="微软雅黑"/>
              </a:rP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"/>
            <a:ext cx="10698480" cy="7315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3359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0000"/>
                </a:solidFill>
              </a:defRPr>
            </a:pPr>
            <a:r>
              <a:rPr>
                <a:ea typeface="微软雅黑"/>
              </a:rPr>
              <a:t>中文 AI 写作的六大痛点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41248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3017520" cy="237744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3017520" cy="54864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508760"/>
            <a:ext cx="502920" cy="50292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>
                <a:ea typeface="微软雅黑"/>
              </a:rPr>
              <a:t>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508760"/>
            <a:ext cx="2011680" cy="4114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95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6BA6"/>
                </a:solidFill>
              </a:defRPr>
            </a:pPr>
            <a:r>
              <a:rPr>
                <a:ea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828800"/>
            <a:ext cx="201168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51C2C"/>
                </a:solidFill>
              </a:defRPr>
            </a:pPr>
            <a:r>
              <a:rPr>
                <a:ea typeface="微软雅黑"/>
              </a:rPr>
              <a:t>AI 味儿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194560"/>
            <a:ext cx="265176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2651760" cy="12801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句式套路化</a:t>
            </a:r>
            <a:br/>
            <a:r>
              <a:rPr>
                <a:ea typeface="微软雅黑"/>
              </a:rPr>
              <a:t>"在…的背景下"</a:t>
            </a:r>
            <a:br/>
            <a:r>
              <a:rPr>
                <a:ea typeface="微软雅黑"/>
              </a:rPr>
              <a:t>"不仅…而且…"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87087" y="1280160"/>
            <a:ext cx="3017520" cy="237744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87087" y="1280160"/>
            <a:ext cx="301752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69967" y="1508760"/>
            <a:ext cx="502920" cy="502920"/>
          </a:xfrm>
          <a:prstGeom prst="ellipse">
            <a:avLst/>
          </a:prstGeom>
          <a:solidFill>
            <a:srgbClr val="00897B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>
                <a:ea typeface="微软雅黑"/>
              </a:rPr>
              <a:t>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4327" y="1508760"/>
            <a:ext cx="2011680" cy="4114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95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897B"/>
                </a:solidFill>
              </a:defRPr>
            </a:pPr>
            <a:r>
              <a:rPr>
                <a:ea typeface="微软雅黑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64327" y="1828800"/>
            <a:ext cx="201168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51C2C"/>
                </a:solidFill>
              </a:defRPr>
            </a:pPr>
            <a:r>
              <a:rPr>
                <a:ea typeface="微软雅黑"/>
              </a:rPr>
              <a:t>新八股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69967" y="2194560"/>
            <a:ext cx="265176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69967" y="2331720"/>
            <a:ext cx="2651760" cy="12801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结构高度趋同</a:t>
            </a:r>
            <a:br/>
            <a:r>
              <a:rPr>
                <a:ea typeface="微软雅黑"/>
              </a:rPr>
              <a:t>排比起手</a:t>
            </a:r>
            <a:br/>
            <a:r>
              <a:rPr>
                <a:ea typeface="微软雅黑"/>
              </a:rPr>
              <a:t>"综上所述"收尾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42655" y="1280160"/>
            <a:ext cx="3017520" cy="237744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42655" y="1280160"/>
            <a:ext cx="3017520" cy="54864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25535" y="1508760"/>
            <a:ext cx="502920" cy="502920"/>
          </a:xfrm>
          <a:prstGeom prst="ellipse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>
                <a:ea typeface="微软雅黑"/>
              </a:rPr>
              <a:t>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9895" y="1508760"/>
            <a:ext cx="2011680" cy="4114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95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46A00"/>
                </a:solidFill>
              </a:defRPr>
            </a:pPr>
            <a:r>
              <a:rPr>
                <a:ea typeface="微软雅黑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9895" y="1828800"/>
            <a:ext cx="201168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51C2C"/>
                </a:solidFill>
              </a:defRPr>
            </a:pPr>
            <a:r>
              <a:rPr>
                <a:ea typeface="微软雅黑"/>
              </a:rPr>
              <a:t>逻辑断裂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25535" y="2194560"/>
            <a:ext cx="265176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25535" y="2331720"/>
            <a:ext cx="2651760" cy="12801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2000 字后一致性</a:t>
            </a:r>
            <a:br/>
            <a:r>
              <a:rPr>
                <a:ea typeface="微软雅黑"/>
              </a:rPr>
              <a:t>急剧下降</a:t>
            </a:r>
            <a:br/>
            <a:r>
              <a:rPr>
                <a:ea typeface="微软雅黑"/>
              </a:rPr>
              <a:t>前后矛盾频发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023360"/>
            <a:ext cx="3017520" cy="237744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4023360"/>
            <a:ext cx="3017520" cy="5486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4400" y="4251960"/>
            <a:ext cx="502920" cy="50292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>
                <a:ea typeface="微软雅黑"/>
              </a:rPr>
              <a:t>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4251960"/>
            <a:ext cx="2011680" cy="4114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95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62828"/>
                </a:solidFill>
              </a:defRPr>
            </a:pPr>
            <a:r>
              <a:rPr>
                <a:ea typeface="微软雅黑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4572000"/>
            <a:ext cx="201168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51C2C"/>
                </a:solidFill>
              </a:defRPr>
            </a:pPr>
            <a:r>
              <a:rPr>
                <a:ea typeface="微软雅黑"/>
              </a:rPr>
              <a:t>诊断缺失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4937760"/>
            <a:ext cx="265176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074920"/>
            <a:ext cx="2651760" cy="12801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无结构化诊断</a:t>
            </a:r>
            <a:br/>
            <a:r>
              <a:rPr>
                <a:ea typeface="微软雅黑"/>
              </a:rPr>
              <a:t>只能凭感觉</a:t>
            </a:r>
            <a:br/>
            <a:r>
              <a:rPr>
                <a:ea typeface="微软雅黑"/>
              </a:rPr>
              <a:t>判断"好不好"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87087" y="4023360"/>
            <a:ext cx="3017520" cy="237744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87087" y="4023360"/>
            <a:ext cx="3017520" cy="54864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769967" y="4251960"/>
            <a:ext cx="502920" cy="502920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>
                <a:ea typeface="微软雅黑"/>
              </a:rPr>
              <a:t>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64327" y="4251960"/>
            <a:ext cx="2011680" cy="4114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95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7B1FA2"/>
                </a:solidFill>
              </a:defRPr>
            </a:pPr>
            <a:r>
              <a:rPr>
                <a:ea typeface="微软雅黑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64327" y="4572000"/>
            <a:ext cx="201168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51C2C"/>
                </a:solidFill>
              </a:defRPr>
            </a:pPr>
            <a:r>
              <a:rPr>
                <a:ea typeface="微软雅黑"/>
              </a:rPr>
              <a:t>知识库割裂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69967" y="4937760"/>
            <a:ext cx="265176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69967" y="5074920"/>
            <a:ext cx="2651760" cy="12801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本地积累无法</a:t>
            </a:r>
            <a:br/>
            <a:r>
              <a:rPr>
                <a:ea typeface="微软雅黑"/>
              </a:rPr>
              <a:t>被 AI 利用</a:t>
            </a:r>
            <a:br/>
            <a:r>
              <a:rPr>
                <a:ea typeface="微软雅黑"/>
              </a:rPr>
              <a:t>需手动上传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42655" y="4023360"/>
            <a:ext cx="3017520" cy="237744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442655" y="4023360"/>
            <a:ext cx="301752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625535" y="4251960"/>
            <a:ext cx="502920" cy="5029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>
                <a:ea typeface="微软雅黑"/>
              </a:rPr>
              <a:t>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19895" y="4251960"/>
            <a:ext cx="2011680" cy="4114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95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E7D32"/>
                </a:solidFill>
              </a:defRPr>
            </a:pPr>
            <a:r>
              <a:rPr>
                <a:ea typeface="微软雅黑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19895" y="4572000"/>
            <a:ext cx="201168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51C2C"/>
                </a:solidFill>
              </a:defRPr>
            </a:pPr>
            <a:r>
              <a:rPr>
                <a:ea typeface="微软雅黑"/>
              </a:rPr>
              <a:t>工作流分散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25535" y="4937760"/>
            <a:ext cx="265176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25535" y="5074920"/>
            <a:ext cx="2651760" cy="12801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构思/起草/审核</a:t>
            </a:r>
            <a:br/>
            <a:r>
              <a:rPr>
                <a:ea typeface="微软雅黑"/>
              </a:rPr>
              <a:t>工具不连贯</a:t>
            </a:r>
            <a:br/>
            <a:r>
              <a:rPr>
                <a:ea typeface="微软雅黑"/>
              </a:rPr>
              <a:t>上下文丢失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</a:defRPr>
            </a:pPr>
            <a:r>
              <a:rPr>
                <a:ea typeface="微软雅黑"/>
              </a:rPr>
              <a:t>基于 README.md 行业背景分析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</a:defRPr>
            </a:pPr>
            <a:r>
              <a:rPr>
                <a:ea typeface="微软雅黑"/>
              </a:rP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"/>
            <a:ext cx="10698480" cy="7315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3359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0000"/>
                </a:solidFill>
              </a:defRPr>
            </a:pPr>
            <a:r>
              <a:rPr>
                <a:ea typeface="微软雅黑"/>
              </a:rPr>
              <a:t>三大核心设计理念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41248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3200400" cy="59436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280160"/>
            <a:ext cx="2926080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rPr>
                <a:ea typeface="微软雅黑"/>
              </a:rPr>
              <a:t>Agent↔Skill 分离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74519"/>
            <a:ext cx="3200400" cy="4023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834640" cy="34747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▸  Agent 有独立人格，多轮对话，不修改文件</a:t>
            </a:r>
          </a:p>
          <a:p>
            <a:pPr algn="l">
              <a:lnSpc>
                <a:spcPts val="2600"/>
              </a:lnSpc>
              <a:spcBef>
                <a:spcPts val="300"/>
              </a:spcBef>
              <a:spcAft>
                <a:spcPts val="0"/>
              </a:spcAft>
              <a:defRPr sz="13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▸  Skill 单次任务，直接或确认后修改</a:t>
            </a:r>
          </a:p>
          <a:p>
            <a:pPr algn="l">
              <a:lnSpc>
                <a:spcPts val="2600"/>
              </a:lnSpc>
              <a:spcBef>
                <a:spcPts val="300"/>
              </a:spcBef>
              <a:spcAft>
                <a:spcPts val="0"/>
              </a:spcAft>
              <a:defRPr sz="13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▸  Agent 诊断 → 推荐 Skill → 修改闭环</a:t>
            </a:r>
          </a:p>
          <a:p>
            <a:pPr algn="l">
              <a:lnSpc>
                <a:spcPts val="2600"/>
              </a:lnSpc>
              <a:spcBef>
                <a:spcPts val="300"/>
              </a:spcBef>
              <a:spcAft>
                <a:spcPts val="0"/>
              </a:spcAft>
              <a:defRPr sz="13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▸  各司其职又无缝衔接</a:t>
            </a:r>
          </a:p>
        </p:txBody>
      </p:sp>
      <p:sp>
        <p:nvSpPr>
          <p:cNvPr id="8" name="Rectangle 7"/>
          <p:cNvSpPr/>
          <p:nvPr/>
        </p:nvSpPr>
        <p:spPr>
          <a:xfrm>
            <a:off x="4495647" y="1280160"/>
            <a:ext cx="3200400" cy="59436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2807" y="1280160"/>
            <a:ext cx="2926080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rPr>
                <a:ea typeface="微软雅黑"/>
              </a:rPr>
              <a:t>三层渐进加载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5647" y="1874519"/>
            <a:ext cx="3200400" cy="4023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8527" y="2103120"/>
            <a:ext cx="2834640" cy="34747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▸  L1 目录：启动仅 50-100 token/Skill</a:t>
            </a:r>
          </a:p>
          <a:p>
            <a:pPr algn="l">
              <a:lnSpc>
                <a:spcPts val="2600"/>
              </a:lnSpc>
              <a:spcBef>
                <a:spcPts val="300"/>
              </a:spcBef>
              <a:spcAft>
                <a:spcPts val="0"/>
              </a:spcAft>
              <a:defRPr sz="13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▸  L2 指令：匹配时加载 &lt;5000 token</a:t>
            </a:r>
          </a:p>
          <a:p>
            <a:pPr algn="l">
              <a:lnSpc>
                <a:spcPts val="2600"/>
              </a:lnSpc>
              <a:spcBef>
                <a:spcPts val="300"/>
              </a:spcBef>
              <a:spcAft>
                <a:spcPts val="0"/>
              </a:spcAft>
              <a:defRPr sz="13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▸  L3 资源：按需引用附属文件</a:t>
            </a:r>
          </a:p>
          <a:p>
            <a:pPr algn="l">
              <a:lnSpc>
                <a:spcPts val="2600"/>
              </a:lnSpc>
              <a:spcBef>
                <a:spcPts val="300"/>
              </a:spcBef>
              <a:spcAft>
                <a:spcPts val="0"/>
              </a:spcAft>
              <a:defRPr sz="13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▸  比传统方案节省约 90% 上下文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59775" y="1280160"/>
            <a:ext cx="3200400" cy="594360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6935" y="1280160"/>
            <a:ext cx="2926080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rPr>
                <a:ea typeface="微软雅黑"/>
              </a:rPr>
              <a:t>自然语言驱动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59775" y="1874519"/>
            <a:ext cx="3200400" cy="4023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42655" y="2103120"/>
            <a:ext cx="2834640" cy="34747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▸  说人话就能触发 Skill</a:t>
            </a:r>
          </a:p>
          <a:p>
            <a:pPr algn="l">
              <a:lnSpc>
                <a:spcPts val="2600"/>
              </a:lnSpc>
              <a:spcBef>
                <a:spcPts val="300"/>
              </a:spcBef>
              <a:spcAft>
                <a:spcPts val="0"/>
              </a:spcAft>
              <a:defRPr sz="13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▸  "帮我审一下"→ 批判家</a:t>
            </a:r>
          </a:p>
          <a:p>
            <a:pPr algn="l">
              <a:lnSpc>
                <a:spcPts val="2600"/>
              </a:lnSpc>
              <a:spcBef>
                <a:spcPts val="300"/>
              </a:spcBef>
              <a:spcAft>
                <a:spcPts val="0"/>
              </a:spcAft>
              <a:defRPr sz="13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▸  "段落太多了"→ 拆分段落</a:t>
            </a:r>
          </a:p>
          <a:p>
            <a:pPr algn="l">
              <a:lnSpc>
                <a:spcPts val="2600"/>
              </a:lnSpc>
              <a:spcBef>
                <a:spcPts val="300"/>
              </a:spcBef>
              <a:spcAft>
                <a:spcPts val="0"/>
              </a:spcAft>
              <a:defRPr sz="13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▸  无需记忆具体命令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608076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126480"/>
            <a:ext cx="10728655" cy="274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51C2C"/>
                </a:solidFill>
              </a:defRPr>
            </a:pPr>
            <a:r>
              <a:rPr>
                <a:ea typeface="微软雅黑"/>
              </a:rPr>
              <a:t>💡 核心优势：全流程覆盖 · 结构化诊断 · 出版级审核 · 本地优先 · 极低上下文开销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</a:defRPr>
            </a:pPr>
            <a:r>
              <a:rPr>
                <a:ea typeface="微软雅黑"/>
              </a:rPr>
              <a:t>基于 README.md 设计思路部分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</a:defRPr>
            </a:pPr>
            <a:r>
              <a:rPr>
                <a:ea typeface="微软雅黑"/>
              </a:rP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"/>
            <a:ext cx="10698480" cy="7315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3359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0000"/>
                </a:solidFill>
              </a:defRPr>
            </a:pPr>
            <a:r>
              <a:rPr>
                <a:ea typeface="微软雅黑"/>
              </a:rPr>
              <a:t>四大 Agent — 人格化写作辅助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41248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377440" cy="475488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2377440" cy="54864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" y="1508760"/>
            <a:ext cx="640080" cy="64008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>
                <a:ea typeface="微软雅黑"/>
              </a:rPr>
              <a:t>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21031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51C2C"/>
                </a:solidFill>
              </a:defRPr>
            </a:pPr>
            <a:r>
              <a:rPr>
                <a:ea typeface="微软雅黑"/>
              </a:rPr>
              <a:t>点子王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43200"/>
            <a:ext cx="210312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</a:defRPr>
            </a:pPr>
            <a:r>
              <a:rPr>
                <a:ea typeface="微软雅黑"/>
              </a:rPr>
              <a:t>创意写作顾问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108960"/>
            <a:ext cx="18288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2011680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头脑风暴 / 想点子</a:t>
            </a:r>
            <a:br/>
            <a:r>
              <a:rPr>
                <a:ea typeface="微软雅黑"/>
              </a:rPr>
              <a:t>天马行空的创意伙伴</a:t>
            </a:r>
            <a:br/>
            <a:r>
              <a:rPr>
                <a:ea typeface="微软雅黑"/>
              </a:rPr>
              <a:t>擅长发散思维</a:t>
            </a:r>
            <a:br/>
            <a:r>
              <a:rPr>
                <a:ea typeface="微软雅黑"/>
              </a:rPr>
              <a:t>输出 3-5 个方向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15258" y="1280160"/>
            <a:ext cx="2377440" cy="475488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5258" y="1280160"/>
            <a:ext cx="237744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83938" y="1508760"/>
            <a:ext cx="640080" cy="640080"/>
          </a:xfrm>
          <a:prstGeom prst="ellipse">
            <a:avLst/>
          </a:prstGeom>
          <a:solidFill>
            <a:srgbClr val="00897B"/>
          </a:solidFill>
          <a:ln>
            <a:noFill/>
          </a:ln>
        </p:spPr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>
                <a:ea typeface="微软雅黑"/>
              </a:rPr>
              <a:t>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2418" y="2331720"/>
            <a:ext cx="21031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51C2C"/>
                </a:solidFill>
              </a:defRPr>
            </a:pPr>
            <a:r>
              <a:rPr>
                <a:ea typeface="微软雅黑"/>
              </a:rPr>
              <a:t>批判家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2418" y="2743200"/>
            <a:ext cx="210312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</a:defRPr>
            </a:pPr>
            <a:r>
              <a:rPr>
                <a:ea typeface="微软雅黑"/>
              </a:rPr>
              <a:t>严苛文稿审核专家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89578" y="3108960"/>
            <a:ext cx="18288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98138" y="3291840"/>
            <a:ext cx="2011680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出版级审核标准</a:t>
            </a:r>
            <a:br/>
            <a:r>
              <a:rPr>
                <a:ea typeface="微软雅黑"/>
              </a:rPr>
              <a:t>四维度严格把关</a:t>
            </a:r>
            <a:br/>
            <a:r>
              <a:rPr>
                <a:ea typeface="微软雅黑"/>
              </a:rPr>
              <a:t>🔴逻辑/🟠文法/🟡风格/🔵内容</a:t>
            </a:r>
            <a:br/>
            <a:r>
              <a:rPr>
                <a:ea typeface="微软雅黑"/>
              </a:rPr>
              <a:t>输出可执行勘误表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98996" y="1280160"/>
            <a:ext cx="2377440" cy="475488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98996" y="1280160"/>
            <a:ext cx="2377440" cy="54864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167676" y="1508760"/>
            <a:ext cx="640080" cy="640080"/>
          </a:xfrm>
          <a:prstGeom prst="ellipse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>
                <a:ea typeface="微软雅黑"/>
              </a:rPr>
              <a:t>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6156" y="2331720"/>
            <a:ext cx="21031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51C2C"/>
                </a:solidFill>
              </a:defRPr>
            </a:pPr>
            <a:r>
              <a:rPr>
                <a:ea typeface="微软雅黑"/>
              </a:rPr>
              <a:t>分析师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6156" y="2743200"/>
            <a:ext cx="210312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</a:defRPr>
            </a:pPr>
            <a:r>
              <a:rPr>
                <a:ea typeface="微软雅黑"/>
              </a:rPr>
              <a:t>文稿结构分析专家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73316" y="3108960"/>
            <a:ext cx="18288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1876" y="3291840"/>
            <a:ext cx="2011680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剥洋葱式结构拆解</a:t>
            </a:r>
            <a:br/>
            <a:r>
              <a:rPr>
                <a:ea typeface="微软雅黑"/>
              </a:rPr>
              <a:t>语义层次+逻辑关系</a:t>
            </a:r>
            <a:br/>
            <a:r>
              <a:rPr>
                <a:ea typeface="微软雅黑"/>
              </a:rPr>
              <a:t>结构诊断+缺失分析</a:t>
            </a:r>
            <a:br/>
            <a:r>
              <a:rPr>
                <a:ea typeface="微软雅黑"/>
              </a:rPr>
              <a:t>输出完整分析报告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82735" y="1280160"/>
            <a:ext cx="2377440" cy="475488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82735" y="1280160"/>
            <a:ext cx="2377440" cy="5486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51415" y="1508760"/>
            <a:ext cx="640080" cy="64008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>
                <a:ea typeface="微软雅黑"/>
              </a:rPr>
              <a:t>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19895" y="2331720"/>
            <a:ext cx="21031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51C2C"/>
                </a:solidFill>
              </a:defRPr>
            </a:pPr>
            <a:r>
              <a:rPr>
                <a:ea typeface="微软雅黑"/>
              </a:rPr>
              <a:t>档案员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9895" y="2743200"/>
            <a:ext cx="210312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</a:defRPr>
            </a:pPr>
            <a:r>
              <a:rPr>
                <a:ea typeface="微软雅黑"/>
              </a:rPr>
              <a:t>知识库检索专家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57055" y="3108960"/>
            <a:ext cx="18288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65615" y="3291840"/>
            <a:ext cx="2011680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es.exe 文件名搜索</a:t>
            </a:r>
            <a:br/>
            <a:r>
              <a:rPr>
                <a:ea typeface="微软雅黑"/>
              </a:rPr>
              <a:t>rg 内容精准检索</a:t>
            </a:r>
            <a:br/>
            <a:r>
              <a:rPr>
                <a:ea typeface="微软雅黑"/>
              </a:rPr>
              <a:t>自主拆词渐进搜索</a:t>
            </a:r>
            <a:br/>
            <a:r>
              <a:rPr>
                <a:ea typeface="微软雅黑"/>
              </a:rPr>
              <a:t>锁定 3-5 篇相关文档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</a:defRPr>
            </a:pPr>
            <a:r>
              <a:rPr>
                <a:ea typeface="微软雅黑"/>
              </a:rPr>
              <a:t>Agent 只诊断不修改文件，诊断后主动推荐可用 Skill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</a:defRPr>
            </a:pPr>
            <a:r>
              <a:rPr>
                <a:ea typeface="微软雅黑"/>
              </a:rP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"/>
            <a:ext cx="10698480" cy="7315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3359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0000"/>
                </a:solidFill>
              </a:defRPr>
            </a:pPr>
            <a:r>
              <a:rPr>
                <a:ea typeface="微软雅黑"/>
              </a:rPr>
              <a:t>19 个 Skill — 覆盖完整写作流程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41248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6217920" cy="512064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6217920" cy="54864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6217920" cy="45720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188720"/>
            <a:ext cx="5852160" cy="4572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</a:defRPr>
            </a:pPr>
            <a:r>
              <a:rPr>
                <a:ea typeface="微软雅黑"/>
              </a:rPr>
              <a:t>直接修改（无需确认）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5852160" cy="43891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  ✂️  写中心句</a:t>
            </a:r>
            <a:br/>
            <a:r>
              <a:rPr>
                <a:ea typeface="微软雅黑"/>
              </a:rPr>
              <a:t>  ✂️  摘要生成</a:t>
            </a:r>
            <a:br/>
            <a:r>
              <a:rPr>
                <a:ea typeface="微软雅黑"/>
              </a:rPr>
              <a:t>  ✂️  增加过渡</a:t>
            </a:r>
            <a:br/>
            <a:r>
              <a:rPr>
                <a:ea typeface="微软雅黑"/>
              </a:rPr>
              <a:t>  ✂️  缩减篇幅</a:t>
            </a:r>
            <a:br/>
            <a:r>
              <a:rPr>
                <a:ea typeface="微软雅黑"/>
              </a:rPr>
              <a:t>  ✂️  扩充篇幅</a:t>
            </a:r>
            <a:br/>
            <a:r>
              <a:rPr>
                <a:ea typeface="微软雅黑"/>
              </a:rPr>
              <a:t>  ✂️  合并段落</a:t>
            </a:r>
            <a:br/>
            <a:r>
              <a:rPr>
                <a:ea typeface="微软雅黑"/>
              </a:rPr>
              <a:t>  ✂️  拆分段落</a:t>
            </a:r>
            <a:br/>
            <a:r>
              <a:rPr>
                <a:ea typeface="微软雅黑"/>
              </a:rPr>
              <a:t>  ✂️  简化修辞</a:t>
            </a:r>
            <a:br/>
            <a:r>
              <a:rPr>
                <a:ea typeface="微软雅黑"/>
              </a:rPr>
              <a:t>  ✂️  增加修辞</a:t>
            </a:r>
            <a:br/>
            <a:r>
              <a:rPr>
                <a:ea typeface="微软雅黑"/>
              </a:rPr>
              <a:t>  ✂️  神来之笔</a:t>
            </a:r>
            <a:br/>
            <a:r>
              <a:rPr>
                <a:ea typeface="微软雅黑"/>
              </a:rPr>
              <a:t>  ✂️  去除标签</a:t>
            </a:r>
            <a:br/>
            <a:r>
              <a:rPr>
                <a:ea typeface="微软雅黑"/>
              </a:rPr>
              <a:t>  ✂️  校对勘误</a:t>
            </a:r>
            <a:br/>
            <a:r>
              <a:rPr>
                <a:ea typeface="微软雅黑"/>
              </a:rPr>
              <a:t>  ✂️  统一风格</a:t>
            </a:r>
            <a:br/>
            <a:r>
              <a:rPr>
                <a:ea typeface="微软雅黑"/>
              </a:rPr>
              <a:t>  ✂️  优化句式</a:t>
            </a:r>
            <a:br/>
            <a:r>
              <a:rPr>
                <a:ea typeface="微软雅黑"/>
              </a:rPr>
              <a:t>  ✂️  量化分析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1188720"/>
            <a:ext cx="3931920" cy="2286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79" y="1188720"/>
            <a:ext cx="393192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79" y="1188720"/>
            <a:ext cx="3931920" cy="4572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59" y="1188720"/>
            <a:ext cx="3566160" cy="4572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</a:defRPr>
            </a:pPr>
            <a:r>
              <a:rPr>
                <a:ea typeface="微软雅黑"/>
              </a:rPr>
              <a:t>确认后修改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399" y="1783080"/>
            <a:ext cx="338328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  ✅  标题优化</a:t>
            </a:r>
            <a:br/>
            <a:r>
              <a:rPr>
                <a:ea typeface="微软雅黑"/>
              </a:rPr>
              <a:t>  ✅  段落重组</a:t>
            </a:r>
            <a:br/>
            <a:r>
              <a:rPr>
                <a:ea typeface="微软雅黑"/>
              </a:rPr>
              <a:t>  ✅  大纲生成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3749039"/>
            <a:ext cx="3931920" cy="18288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98079" y="3749039"/>
            <a:ext cx="3931920" cy="54864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98079" y="3749039"/>
            <a:ext cx="3931920" cy="457200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59" y="3749039"/>
            <a:ext cx="3566160" cy="4572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</a:defRPr>
            </a:pPr>
            <a:r>
              <a:rPr>
                <a:ea typeface="微软雅黑"/>
              </a:rPr>
              <a:t>仅输出（不修改原文）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399" y="4343400"/>
            <a:ext cx="3383280" cy="10972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  📄  传达提纲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760720"/>
            <a:ext cx="10728655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760720"/>
            <a:ext cx="10180015" cy="4572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51C2C"/>
                </a:solidFill>
              </a:defRPr>
            </a:pPr>
            <a:r>
              <a:rPr>
                <a:ea typeface="微软雅黑"/>
              </a:rPr>
              <a:t>💡 操作范围规则：选中文本则只处理选中部分，否则处理全文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</a:defRPr>
            </a:pPr>
            <a:r>
              <a:rPr>
                <a:ea typeface="微软雅黑"/>
              </a:rPr>
              <a:t>基于 README.md Skill 功能速查表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</a:defRPr>
            </a:pPr>
            <a:r>
              <a:rPr>
                <a:ea typeface="微软雅黑"/>
              </a:rP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"/>
            <a:ext cx="10698480" cy="7315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3359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0000"/>
                </a:solidFill>
              </a:defRPr>
            </a:pPr>
            <a:r>
              <a:rPr>
                <a:ea typeface="微软雅黑"/>
              </a:rPr>
              <a:t>与现有方案的差异化对比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41248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645920" cy="4114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95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rPr>
                <a:ea typeface="微软雅黑"/>
              </a:rPr>
              <a:t>类型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1280160"/>
            <a:ext cx="2286000" cy="4114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95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rPr>
                <a:ea typeface="微软雅黑"/>
              </a:rPr>
              <a:t>代表产品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280160"/>
            <a:ext cx="3200400" cy="4114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95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rPr>
                <a:ea typeface="微软雅黑"/>
              </a:rPr>
              <a:t>优势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280160"/>
            <a:ext cx="3657600" cy="4114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95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rPr>
                <a:ea typeface="微软雅黑"/>
              </a:rPr>
              <a:t>短板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10728655" cy="41148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1645920" cy="6400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Web 写作助手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691640"/>
            <a:ext cx="2286000" cy="6400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秘塔/笔灵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691640"/>
            <a:ext cx="3200400" cy="6400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模板丰富、开箱即用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691640"/>
            <a:ext cx="3657600" cy="6400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独立网页，无法嵌入编辑器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3317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331720"/>
            <a:ext cx="10728655" cy="640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331720"/>
            <a:ext cx="1645920" cy="6400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大模型对话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2331720"/>
            <a:ext cx="2286000" cy="6400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通义千问/文心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331720"/>
            <a:ext cx="3200400" cy="6400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通用能力强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331720"/>
            <a:ext cx="3657600" cy="6400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无结构化写作流程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97180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971800"/>
            <a:ext cx="1645920" cy="6400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办公插件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2971800"/>
            <a:ext cx="2286000" cy="6400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火龙果/火山写作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971800"/>
            <a:ext cx="3200400" cy="6400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嵌入 Word/WPS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2971800"/>
            <a:ext cx="3657600" cy="6400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缺乏构思和结构分析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6118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3611880"/>
            <a:ext cx="10728655" cy="640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611880"/>
            <a:ext cx="1645920" cy="6400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AI 小说工具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3611880"/>
            <a:ext cx="2286000" cy="6400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novel-writer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3611880"/>
            <a:ext cx="3200400" cy="6400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长文本管线成熟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3611880"/>
            <a:ext cx="3657600" cy="6400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非虚构场景不适用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25196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251960"/>
            <a:ext cx="1645920" cy="6400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51C2C"/>
                </a:solidFill>
              </a:defRPr>
            </a:pPr>
            <a:r>
              <a:rPr>
                <a:ea typeface="微软雅黑"/>
              </a:rPr>
              <a:t>Copilot 扩展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77440" y="4251960"/>
            <a:ext cx="2286000" cy="6400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51C2C"/>
                </a:solidFill>
              </a:defRPr>
            </a:pPr>
            <a:r>
              <a:rPr>
                <a:ea typeface="微软雅黑"/>
              </a:rPr>
              <a:t>awesome-copilot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4251960"/>
            <a:ext cx="3200400" cy="6400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51C2C"/>
                </a:solidFill>
              </a:defRPr>
            </a:pPr>
            <a:r>
              <a:rPr>
                <a:ea typeface="微软雅黑"/>
              </a:rPr>
              <a:t>Agent Skills 规范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4251960"/>
            <a:ext cx="3657600" cy="6400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51C2C"/>
                </a:solidFill>
              </a:defRPr>
            </a:pPr>
            <a:r>
              <a:rPr>
                <a:ea typeface="微软雅黑"/>
              </a:rPr>
              <a:t>尚无中文写作 Agent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89204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5074920"/>
            <a:ext cx="10728655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5074920"/>
            <a:ext cx="10180015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</a:defRPr>
            </a:pPr>
            <a:r>
              <a:rPr>
                <a:ea typeface="微软雅黑"/>
              </a:rPr>
              <a:t>✅ 本项目：全流程覆盖 · 结构化诊断 · 出版级审核 · 本地优先 · 自然语言驱动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</a:defRPr>
            </a:pPr>
            <a:r>
              <a:rPr>
                <a:ea typeface="微软雅黑"/>
              </a:rPr>
              <a:t>基于 README.md 现有方案对比表格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</a:defRPr>
            </a:pPr>
            <a:r>
              <a:rPr>
                <a:ea typeface="微软雅黑"/>
              </a:rP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"/>
            <a:ext cx="10698480" cy="7315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3359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0000"/>
                </a:solidFill>
              </a:defRPr>
            </a:pPr>
            <a:r>
              <a:rPr>
                <a:ea typeface="微软雅黑"/>
              </a:rPr>
              <a:t>技术架构总览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41248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7315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188720"/>
            <a:ext cx="10180015" cy="7315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</a:defRPr>
            </a:pPr>
            <a:r>
              <a:rPr>
                <a:ea typeface="微软雅黑"/>
              </a:rPr>
              <a:t>🖥️  用户层：VS Code + GitHub Copilot Chat / Continue.dev 双平台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96596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51C2C"/>
                </a:solidFill>
              </a:defRPr>
            </a:pPr>
            <a:r>
              <a:rPr>
                <a:ea typeface="微软雅黑"/>
              </a:rPr>
              <a:t>▼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3200400" cy="50292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2926080" cy="5029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</a:defRPr>
            </a:pPr>
            <a:r>
              <a:rPr>
                <a:ea typeface="微软雅黑"/>
              </a:rPr>
              <a:t>🤖  4 个 Agent 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788920"/>
            <a:ext cx="3200400" cy="24688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2834640" cy="21945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创意写作 · 结构分析</a:t>
            </a:r>
            <a:br/>
            <a:r>
              <a:rPr>
                <a:ea typeface="微软雅黑"/>
              </a:rPr>
              <a:t>文稿审核 · 知识检索</a:t>
            </a:r>
            <a:br/>
            <a:br/>
            <a:r>
              <a:rPr>
                <a:ea typeface="微软雅黑"/>
              </a:rPr>
              <a:t>自动推荐对应 Skill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95647" y="2286000"/>
            <a:ext cx="3200400" cy="5029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2807" y="2286000"/>
            <a:ext cx="2926080" cy="5029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</a:defRPr>
            </a:pPr>
            <a:r>
              <a:rPr>
                <a:ea typeface="微软雅黑"/>
              </a:rPr>
              <a:t>🔧  19 个 Skill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95647" y="2788920"/>
            <a:ext cx="3200400" cy="24688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8527" y="2926080"/>
            <a:ext cx="2834640" cy="21945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中心句/摘要/标题</a:t>
            </a:r>
            <a:br/>
            <a:r>
              <a:rPr>
                <a:ea typeface="微软雅黑"/>
              </a:rPr>
              <a:t>大纲/重组/过渡</a:t>
            </a:r>
            <a:br/>
            <a:r>
              <a:rPr>
                <a:ea typeface="微软雅黑"/>
              </a:rPr>
              <a:t>勘误/风格/修辞</a:t>
            </a:r>
            <a:br/>
            <a:r>
              <a:rPr>
                <a:ea typeface="微软雅黑"/>
              </a:rPr>
              <a:t>扩充/缩减/拆分/合并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59775" y="2286000"/>
            <a:ext cx="3200400" cy="502920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6935" y="2286000"/>
            <a:ext cx="2926080" cy="5029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</a:defRPr>
            </a:pPr>
            <a:r>
              <a:rPr>
                <a:ea typeface="微软雅黑"/>
              </a:rPr>
              <a:t>🔌  MCP 服务器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59775" y="2788920"/>
            <a:ext cx="3200400" cy="24688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42655" y="2926080"/>
            <a:ext cx="2834640" cy="21945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Everythhing es.exe</a:t>
            </a:r>
            <a:br/>
            <a:r>
              <a:rPr>
                <a:ea typeface="微软雅黑"/>
              </a:rPr>
              <a:t>文件名极速搜索</a:t>
            </a:r>
            <a:br/>
            <a:r>
              <a:rPr>
                <a:ea typeface="微软雅黑"/>
              </a:rPr>
              <a:t>ripgrep 内容搜索</a:t>
            </a:r>
            <a:br/>
            <a:r>
              <a:rPr>
                <a:ea typeface="微软雅黑"/>
              </a:rPr>
              <a:t>修辞句子库检索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486400"/>
            <a:ext cx="10728655" cy="64008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486400"/>
            <a:ext cx="10180015" cy="6400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rPr>
                <a:ea typeface="微软雅黑"/>
              </a:rPr>
              <a:t>🗄️  基础层：Python (jieba分词) · Node.js (MCP) · Everything + ripgrep · Markdown 知识库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</a:defRPr>
            </a:pPr>
            <a:r>
              <a:rPr>
                <a:ea typeface="微软雅黑"/>
              </a:rPr>
              <a:t>基于 README.md 文件结构和技术栈描述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</a:defRPr>
            </a:pPr>
            <a:r>
              <a:rPr>
                <a:ea typeface="微软雅黑"/>
              </a:rP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"/>
            <a:ext cx="10698480" cy="7315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3359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0000"/>
                </a:solidFill>
              </a:defRPr>
            </a:pPr>
            <a:r>
              <a:rPr>
                <a:ea typeface="微软雅黑"/>
              </a:rPr>
              <a:t>推荐工作流程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41248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286000" cy="82296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2103120" cy="4114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rPr>
                <a:ea typeface="微软雅黑"/>
              </a:rPr>
              <a:t>💡  写作前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2103120" cy="3200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DDEEFF"/>
                </a:solidFill>
              </a:defRPr>
            </a:pPr>
            <a:r>
              <a:rPr>
                <a:ea typeface="微软雅黑"/>
              </a:rPr>
              <a:t>构思阶段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2286000" cy="228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2011680" cy="2011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→  头脑风暴（点子王）</a:t>
            </a:r>
          </a:p>
          <a:p>
            <a:pPr algn="l">
              <a:lnSpc>
                <a:spcPts val="2400"/>
              </a:lnSpc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→  生成大纲</a:t>
            </a:r>
          </a:p>
          <a:p>
            <a:pPr algn="l">
              <a:lnSpc>
                <a:spcPts val="2400"/>
              </a:lnSpc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→  优化标题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2286000"/>
            <a:ext cx="36576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3919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6BA6"/>
                </a:solidFill>
              </a:defRPr>
            </a:pPr>
            <a:r>
              <a:rPr>
                <a:ea typeface="微软雅黑"/>
              </a:rPr>
              <a:t>▸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45738" y="1280160"/>
            <a:ext cx="2286000" cy="82296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7178" y="1280160"/>
            <a:ext cx="2103120" cy="4114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rPr>
                <a:ea typeface="微软雅黑"/>
              </a:rPr>
              <a:t>✏️  写作中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7178" y="1691640"/>
            <a:ext cx="2103120" cy="3200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DDEEFF"/>
                </a:solidFill>
              </a:defRPr>
            </a:pPr>
            <a:r>
              <a:rPr>
                <a:ea typeface="微软雅黑"/>
              </a:rPr>
              <a:t>起草阶段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45738" y="2103120"/>
            <a:ext cx="2286000" cy="228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2898" y="2286000"/>
            <a:ext cx="2011680" cy="2011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→  扩充篇幅/神来之笔</a:t>
            </a:r>
          </a:p>
          <a:p>
            <a:pPr algn="l">
              <a:lnSpc>
                <a:spcPts val="2400"/>
              </a:lnSpc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→  增加修辞/简化</a:t>
            </a:r>
          </a:p>
          <a:p>
            <a:pPr algn="l">
              <a:lnSpc>
                <a:spcPts val="2400"/>
              </a:lnSpc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→  增加过渡/调整段落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77458" y="2286000"/>
            <a:ext cx="36576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3919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897B"/>
                </a:solidFill>
              </a:defRPr>
            </a:pPr>
            <a:r>
              <a:rPr>
                <a:ea typeface="微软雅黑"/>
              </a:rPr>
              <a:t>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9956" y="1280160"/>
            <a:ext cx="2286000" cy="822960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1396" y="1280160"/>
            <a:ext cx="2103120" cy="4114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rPr>
                <a:ea typeface="微软雅黑"/>
              </a:rPr>
              <a:t>🔍  写作后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1396" y="1691640"/>
            <a:ext cx="2103120" cy="3200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DDEEFF"/>
                </a:solidFill>
              </a:defRPr>
            </a:pPr>
            <a:r>
              <a:rPr>
                <a:ea typeface="微软雅黑"/>
              </a:rPr>
              <a:t>审核阶段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9956" y="2103120"/>
            <a:ext cx="2286000" cy="228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7116" y="2286000"/>
            <a:ext cx="2011680" cy="2011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→  结构分析（分析师）</a:t>
            </a:r>
          </a:p>
          <a:p>
            <a:pPr algn="l">
              <a:lnSpc>
                <a:spcPts val="2400"/>
              </a:lnSpc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→  严格审核（批判家）</a:t>
            </a:r>
          </a:p>
          <a:p>
            <a:pPr algn="l">
              <a:lnSpc>
                <a:spcPts val="2400"/>
              </a:lnSpc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→  校对勘误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91676" y="2286000"/>
            <a:ext cx="36576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3919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D46A00"/>
                </a:solidFill>
              </a:defRPr>
            </a:pPr>
            <a:r>
              <a:rPr>
                <a:ea typeface="微软雅黑"/>
              </a:rPr>
              <a:t>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74175" y="1280160"/>
            <a:ext cx="2286000" cy="8229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65615" y="1280160"/>
            <a:ext cx="2103120" cy="4114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rPr>
                <a:ea typeface="微软雅黑"/>
              </a:rPr>
              <a:t>🎨  全流程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5615" y="1691640"/>
            <a:ext cx="2103120" cy="3200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DDEEFF"/>
                </a:solidFill>
              </a:defRPr>
            </a:pPr>
            <a:r>
              <a:rPr>
                <a:ea typeface="微软雅黑"/>
              </a:rPr>
              <a:t>专项调整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74175" y="2103120"/>
            <a:ext cx="2286000" cy="228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11335" y="2286000"/>
            <a:ext cx="2011680" cy="2011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→  缩减/扩充篇幅</a:t>
            </a:r>
          </a:p>
          <a:p>
            <a:pPr algn="l">
              <a:lnSpc>
                <a:spcPts val="2400"/>
              </a:lnSpc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→  统一风格</a:t>
            </a:r>
          </a:p>
          <a:p>
            <a:pPr algn="l">
              <a:lnSpc>
                <a:spcPts val="2400"/>
              </a:lnSpc>
              <a:spcBef>
                <a:spcPts val="300"/>
              </a:spcBef>
              <a:spcAft>
                <a:spcPts val="0"/>
              </a:spcAft>
              <a:defRPr sz="12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→  金句嵌入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663440"/>
            <a:ext cx="10728655" cy="1280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4709160"/>
            <a:ext cx="18288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95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</a:defRPr>
            </a:pPr>
            <a:r>
              <a:rPr>
                <a:ea typeface="微软雅黑"/>
              </a:rPr>
              <a:t>完整写作链路</a:t>
            </a:r>
          </a:p>
        </p:txBody>
      </p:sp>
      <p:sp>
        <p:nvSpPr>
          <p:cNvPr id="29" name="Oval 28"/>
          <p:cNvSpPr/>
          <p:nvPr/>
        </p:nvSpPr>
        <p:spPr>
          <a:xfrm>
            <a:off x="3017520" y="4937760"/>
            <a:ext cx="365760" cy="36576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>
                <a:ea typeface="微软雅黑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4937760"/>
            <a:ext cx="1371600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51C2C"/>
                </a:solidFill>
              </a:defRPr>
            </a:pPr>
            <a:r>
              <a:rPr>
                <a:ea typeface="微软雅黑"/>
              </a:rPr>
              <a:t>构思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4937760"/>
            <a:ext cx="4572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66666"/>
                </a:solidFill>
              </a:defRPr>
            </a:pPr>
            <a:r>
              <a:rPr>
                <a:ea typeface="微软雅黑"/>
              </a:rPr>
              <a:t>→</a:t>
            </a:r>
          </a:p>
        </p:txBody>
      </p:sp>
      <p:sp>
        <p:nvSpPr>
          <p:cNvPr id="32" name="Oval 31"/>
          <p:cNvSpPr/>
          <p:nvPr/>
        </p:nvSpPr>
        <p:spPr>
          <a:xfrm>
            <a:off x="5577840" y="4937760"/>
            <a:ext cx="365760" cy="365760"/>
          </a:xfrm>
          <a:prstGeom prst="ellipse">
            <a:avLst/>
          </a:prstGeom>
          <a:solidFill>
            <a:srgbClr val="00897B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>
                <a:ea typeface="微软雅黑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4937760"/>
            <a:ext cx="1371600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51C2C"/>
                </a:solidFill>
              </a:defRPr>
            </a:pPr>
            <a:r>
              <a:rPr>
                <a:ea typeface="微软雅黑"/>
              </a:rPr>
              <a:t>起草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4937760"/>
            <a:ext cx="4572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66666"/>
                </a:solidFill>
              </a:defRPr>
            </a:pPr>
            <a:r>
              <a:rPr>
                <a:ea typeface="微软雅黑"/>
              </a:rPr>
              <a:t>→</a:t>
            </a:r>
          </a:p>
        </p:txBody>
      </p:sp>
      <p:sp>
        <p:nvSpPr>
          <p:cNvPr id="35" name="Oval 34"/>
          <p:cNvSpPr/>
          <p:nvPr/>
        </p:nvSpPr>
        <p:spPr>
          <a:xfrm>
            <a:off x="8138160" y="4937760"/>
            <a:ext cx="365760" cy="365760"/>
          </a:xfrm>
          <a:prstGeom prst="ellipse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>
                <a:ea typeface="微软雅黑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4937760"/>
            <a:ext cx="1371600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51C2C"/>
                </a:solidFill>
              </a:defRPr>
            </a:pPr>
            <a:r>
              <a:rPr>
                <a:ea typeface="微软雅黑"/>
              </a:rPr>
              <a:t>审核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4937760"/>
            <a:ext cx="4572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66666"/>
                </a:solidFill>
              </a:defRPr>
            </a:pPr>
            <a:r>
              <a:rPr>
                <a:ea typeface="微软雅黑"/>
              </a:rPr>
              <a:t>→</a:t>
            </a:r>
          </a:p>
        </p:txBody>
      </p:sp>
      <p:sp>
        <p:nvSpPr>
          <p:cNvPr id="38" name="Oval 37"/>
          <p:cNvSpPr/>
          <p:nvPr/>
        </p:nvSpPr>
        <p:spPr>
          <a:xfrm>
            <a:off x="10698480" y="4937760"/>
            <a:ext cx="365760" cy="36576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>
                <a:ea typeface="微软雅黑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4937760"/>
            <a:ext cx="1371600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51C2C"/>
                </a:solidFill>
              </a:defRPr>
            </a:pPr>
            <a:r>
              <a:rPr>
                <a:ea typeface="微软雅黑"/>
              </a:rPr>
              <a:t>润色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5486400"/>
            <a:ext cx="10180015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</a:defRPr>
            </a:pPr>
            <a:r>
              <a:rPr>
                <a:ea typeface="微软雅黑"/>
              </a:rPr>
              <a:t>从头脑风暴到出版级审核，19 个 Skill 覆盖写作每个环节，无需切换工具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</a:defRPr>
            </a:pPr>
            <a:r>
              <a:rPr>
                <a:ea typeface="微软雅黑"/>
              </a:rPr>
              <a:t>基于 README.md 推荐工作流程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</a:defRPr>
            </a:pPr>
            <a:r>
              <a:rPr>
                <a:ea typeface="微软雅黑"/>
              </a:rP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"/>
            <a:ext cx="10698480" cy="7315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3359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0000"/>
                </a:solidFill>
              </a:defRPr>
            </a:pPr>
            <a:r>
              <a:rPr>
                <a:ea typeface="微软雅黑"/>
              </a:rPr>
              <a:t>Agent ↔ Skill 互推机制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41248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371600" cy="4114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95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rPr>
                <a:ea typeface="微软雅黑"/>
              </a:rPr>
              <a:t>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280160"/>
            <a:ext cx="3657600" cy="4114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95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rPr>
                <a:ea typeface="微软雅黑"/>
              </a:rPr>
              <a:t>诊断场景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1280160"/>
            <a:ext cx="5699455" cy="4114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95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rPr>
                <a:ea typeface="微软雅黑"/>
              </a:rPr>
              <a:t>推荐 Skill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10728655" cy="41148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1371600" cy="347472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6BA6"/>
                </a:solidFill>
              </a:defRPr>
            </a:pPr>
            <a:r>
              <a:rPr>
                <a:ea typeface="微软雅黑"/>
              </a:rPr>
              <a:t>批判家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691640"/>
            <a:ext cx="3657600" cy="347472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输出勘误表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691640"/>
            <a:ext cx="5699455" cy="347472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校对勘误（一键批量修改）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039112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039112"/>
            <a:ext cx="10728655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39112"/>
            <a:ext cx="1371600" cy="347472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6BA6"/>
                </a:solidFill>
              </a:defRPr>
            </a:pPr>
            <a:r>
              <a:rPr>
                <a:ea typeface="微软雅黑"/>
              </a:rPr>
              <a:t>批判家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039112"/>
            <a:ext cx="3657600" cy="347472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段落顺序问题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2039112"/>
            <a:ext cx="5699455" cy="347472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段落重组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386584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386584"/>
            <a:ext cx="1371600" cy="347472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6BA6"/>
                </a:solidFill>
              </a:defRPr>
            </a:pPr>
            <a:r>
              <a:rPr>
                <a:ea typeface="微软雅黑"/>
              </a:rPr>
              <a:t>批判家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2386584"/>
            <a:ext cx="3657600" cy="347472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段落衔接生硬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2386584"/>
            <a:ext cx="5699455" cy="347472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增加过渡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2734056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2734056"/>
            <a:ext cx="10728655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734056"/>
            <a:ext cx="1371600" cy="347472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6BA6"/>
                </a:solidFill>
              </a:defRPr>
            </a:pPr>
            <a:r>
              <a:rPr>
                <a:ea typeface="微软雅黑"/>
              </a:rPr>
              <a:t>批判家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2734056"/>
            <a:ext cx="3657600" cy="347472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文笔平淡、缺乏亮点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2734056"/>
            <a:ext cx="5699455" cy="347472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神来之笔 / 增加修辞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081528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081528"/>
            <a:ext cx="1371600" cy="347472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6BA6"/>
                </a:solidFill>
              </a:defRPr>
            </a:pPr>
            <a:r>
              <a:rPr>
                <a:ea typeface="微软雅黑"/>
              </a:rPr>
              <a:t>批判家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3081528"/>
            <a:ext cx="3657600" cy="347472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英式中文、句式臃肿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3081528"/>
            <a:ext cx="5699455" cy="347472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优化句式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42900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3429000"/>
            <a:ext cx="10728655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429000"/>
            <a:ext cx="1371600" cy="347472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6BA6"/>
                </a:solidFill>
              </a:defRPr>
            </a:pPr>
            <a:r>
              <a:rPr>
                <a:ea typeface="微软雅黑"/>
              </a:rPr>
              <a:t>批判家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3429000"/>
            <a:ext cx="3657600" cy="347472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风格不匹配/不统一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3429000"/>
            <a:ext cx="5699455" cy="347472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统一风格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3776472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3776472"/>
            <a:ext cx="1371600" cy="347472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897B"/>
                </a:solidFill>
              </a:defRPr>
            </a:pPr>
            <a:r>
              <a:rPr>
                <a:ea typeface="微软雅黑"/>
              </a:rPr>
              <a:t>分析师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03120" y="3776472"/>
            <a:ext cx="3657600" cy="347472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段落顺序不合理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0" y="3776472"/>
            <a:ext cx="5699455" cy="347472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段落重组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4123944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1520" y="4123944"/>
            <a:ext cx="10728655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4123944"/>
            <a:ext cx="1371600" cy="347472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897B"/>
                </a:solidFill>
              </a:defRPr>
            </a:pPr>
            <a:r>
              <a:rPr>
                <a:ea typeface="微软雅黑"/>
              </a:rPr>
              <a:t>分析师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20" y="4123944"/>
            <a:ext cx="3657600" cy="347472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结构缺失需重建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0720" y="4123944"/>
            <a:ext cx="5699455" cy="347472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大纲生成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4471416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4471416"/>
            <a:ext cx="1371600" cy="347472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897B"/>
                </a:solidFill>
              </a:defRPr>
            </a:pPr>
            <a:r>
              <a:rPr>
                <a:ea typeface="微软雅黑"/>
              </a:rPr>
              <a:t>分析师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03120" y="4471416"/>
            <a:ext cx="3657600" cy="347472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段落过长/主题混杂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60720" y="4471416"/>
            <a:ext cx="5699455" cy="347472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拆分段落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" y="4818888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1520" y="4818888"/>
            <a:ext cx="10728655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4818888"/>
            <a:ext cx="1371600" cy="347472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46A00"/>
                </a:solidFill>
              </a:defRPr>
            </a:pPr>
            <a:r>
              <a:rPr>
                <a:ea typeface="微软雅黑"/>
              </a:rPr>
              <a:t>点子王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03120" y="4818888"/>
            <a:ext cx="3657600" cy="347472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确定写作方向后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60720" y="4818888"/>
            <a:ext cx="5699455" cy="347472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大纲生成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1520" y="516636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" y="5166360"/>
            <a:ext cx="1371600" cy="347472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46A00"/>
                </a:solidFill>
              </a:defRPr>
            </a:pPr>
            <a:r>
              <a:rPr>
                <a:ea typeface="微软雅黑"/>
              </a:rPr>
              <a:t>点子王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103120" y="5166360"/>
            <a:ext cx="3657600" cy="347472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草稿需丰富/提文采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60720" y="5166360"/>
            <a:ext cx="5699455" cy="347472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扩充篇幅 / 神来之笔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1520" y="5513832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</a:defRPr>
            </a:pPr>
            <a:r>
              <a:rPr>
                <a:ea typeface="微软雅黑"/>
              </a:rPr>
              <a:t>Agent 负责诊断，Skill 负责修改—形成"诊断→推荐→修改"闭环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</a:defRPr>
            </a:pPr>
            <a:r>
              <a:rPr>
                <a:ea typeface="微软雅黑"/>
              </a:rP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"/>
            <a:ext cx="10698480" cy="7315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3359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0000"/>
                </a:solidFill>
              </a:defRPr>
            </a:pPr>
            <a:r>
              <a:rPr>
                <a:ea typeface="微软雅黑"/>
              </a:rPr>
              <a:t>项目规模一览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41248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2286000" cy="25603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2011680" cy="9144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</a:defRPr>
            </a:pPr>
            <a:r>
              <a:rPr>
                <a:ea typeface="微软雅黑"/>
              </a:rPr>
              <a:t>744+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68880"/>
            <a:ext cx="2011680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95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rPr>
                <a:ea typeface="微软雅黑"/>
              </a:rPr>
              <a:t>Skill 知识点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926080"/>
            <a:ext cx="1554480" cy="6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201168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</a:defRPr>
            </a:pPr>
            <a:r>
              <a:rPr>
                <a:ea typeface="微软雅黑"/>
              </a:rPr>
              <a:t>涵盖写作各环节</a:t>
            </a:r>
            <a:br/>
            <a:r>
              <a:rPr>
                <a:ea typeface="微软雅黑"/>
              </a:rPr>
              <a:t>的经验与技巧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5738" y="1463040"/>
            <a:ext cx="2286000" cy="2560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82898" y="1508760"/>
            <a:ext cx="2011680" cy="9144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51C2C"/>
                </a:solidFill>
              </a:defRPr>
            </a:pPr>
            <a:r>
              <a:rPr>
                <a:ea typeface="微软雅黑"/>
              </a:rPr>
              <a:t>225+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2898" y="2468880"/>
            <a:ext cx="2011680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95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</a:defRPr>
            </a:pPr>
            <a:r>
              <a:rPr>
                <a:ea typeface="微软雅黑"/>
              </a:rPr>
              <a:t>Agent 知识点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11498" y="2926080"/>
            <a:ext cx="15544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2898" y="3063240"/>
            <a:ext cx="201168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四大 Agent 中</a:t>
            </a:r>
            <a:br/>
            <a:r>
              <a:rPr>
                <a:ea typeface="微软雅黑"/>
              </a:rPr>
              <a:t>融合的写作知识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9956" y="1463040"/>
            <a:ext cx="2286000" cy="2560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7116" y="1508760"/>
            <a:ext cx="2011680" cy="9144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51C2C"/>
                </a:solidFill>
              </a:defRPr>
            </a:pPr>
            <a:r>
              <a:rPr>
                <a:ea typeface="微软雅黑"/>
              </a:rPr>
              <a:t>969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7116" y="2468880"/>
            <a:ext cx="2011680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95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</a:defRPr>
            </a:pPr>
            <a:r>
              <a:rPr>
                <a:ea typeface="微软雅黑"/>
              </a:rPr>
              <a:t>知识点总计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25716" y="2926080"/>
            <a:ext cx="15544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7116" y="3063240"/>
            <a:ext cx="201168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Skill + Agent</a:t>
            </a:r>
            <a:br/>
            <a:r>
              <a:rPr>
                <a:ea typeface="微软雅黑"/>
              </a:rPr>
              <a:t>合计近千个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74175" y="1463040"/>
            <a:ext cx="2286000" cy="2560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11335" y="1508760"/>
            <a:ext cx="2011680" cy="9144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51C2C"/>
                </a:solidFill>
              </a:defRPr>
            </a:pPr>
            <a:r>
              <a:rPr>
                <a:ea typeface="微软雅黑"/>
              </a:rPr>
              <a:t>1.4k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11335" y="2468880"/>
            <a:ext cx="2011680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95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</a:defRPr>
            </a:pPr>
            <a:r>
              <a:rPr>
                <a:ea typeface="微软雅黑"/>
              </a:rPr>
              <a:t>启动 Token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39935" y="2926080"/>
            <a:ext cx="15544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11335" y="3063240"/>
            <a:ext cx="201168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rPr>
                <a:ea typeface="微软雅黑"/>
              </a:rPr>
              <a:t>19 个 Skill 启动</a:t>
            </a:r>
            <a:br/>
            <a:r>
              <a:rPr>
                <a:ea typeface="微软雅黑"/>
              </a:rPr>
              <a:t>仅约 1400-2800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" y="4389120"/>
            <a:ext cx="457200" cy="45720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>
                <a:ea typeface="微软雅黑"/>
              </a:rPr>
              <a:t>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407408"/>
            <a:ext cx="146304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95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</a:defRPr>
            </a:pPr>
            <a:r>
              <a:rPr>
                <a:ea typeface="微软雅黑"/>
              </a:rPr>
              <a:t>结构化诊断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754880"/>
            <a:ext cx="1463040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</a:defRPr>
            </a:pPr>
            <a:r>
              <a:rPr>
                <a:ea typeface="微软雅黑"/>
              </a:rPr>
              <a:t>市场上独有的中文文稿</a:t>
            </a:r>
            <a:br/>
            <a:r>
              <a:rPr>
                <a:ea typeface="微软雅黑"/>
              </a:rPr>
              <a:t>分层结构诊断能力</a:t>
            </a:r>
          </a:p>
        </p:txBody>
      </p:sp>
      <p:sp>
        <p:nvSpPr>
          <p:cNvPr id="27" name="Oval 26"/>
          <p:cNvSpPr/>
          <p:nvPr/>
        </p:nvSpPr>
        <p:spPr>
          <a:xfrm>
            <a:off x="3682898" y="4389120"/>
            <a:ext cx="457200" cy="45720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>
                <a:ea typeface="微软雅黑"/>
              </a:rPr>
              <a:t>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31538" y="4407408"/>
            <a:ext cx="146304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95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</a:defRPr>
            </a:pPr>
            <a:r>
              <a:rPr>
                <a:ea typeface="微软雅黑"/>
              </a:rPr>
              <a:t>出版级审核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31538" y="4754880"/>
            <a:ext cx="1463040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</a:defRPr>
            </a:pPr>
            <a:r>
              <a:rPr>
                <a:ea typeface="微软雅黑"/>
              </a:rPr>
              <a:t>四级标准审核+</a:t>
            </a:r>
            <a:br/>
            <a:r>
              <a:rPr>
                <a:ea typeface="微软雅黑"/>
              </a:rPr>
              <a:t>可执行勘误表逐条修改</a:t>
            </a:r>
          </a:p>
        </p:txBody>
      </p:sp>
      <p:sp>
        <p:nvSpPr>
          <p:cNvPr id="30" name="Oval 29"/>
          <p:cNvSpPr/>
          <p:nvPr/>
        </p:nvSpPr>
        <p:spPr>
          <a:xfrm>
            <a:off x="6497116" y="4389120"/>
            <a:ext cx="457200" cy="45720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>
                <a:ea typeface="微软雅黑"/>
              </a:rPr>
              <a:t>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5756" y="4407408"/>
            <a:ext cx="146304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95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</a:defRPr>
            </a:pPr>
            <a:r>
              <a:rPr>
                <a:ea typeface="微软雅黑"/>
              </a:rPr>
              <a:t>极低上下文开销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756" y="4754880"/>
            <a:ext cx="1463040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</a:defRPr>
            </a:pPr>
            <a:r>
              <a:rPr>
                <a:ea typeface="微软雅黑"/>
              </a:rPr>
              <a:t>渐进加载比传统方案</a:t>
            </a:r>
            <a:br/>
            <a:r>
              <a:rPr>
                <a:ea typeface="微软雅黑"/>
              </a:rPr>
              <a:t>节省约 90%</a:t>
            </a:r>
          </a:p>
        </p:txBody>
      </p:sp>
      <p:sp>
        <p:nvSpPr>
          <p:cNvPr id="33" name="Oval 32"/>
          <p:cNvSpPr/>
          <p:nvPr/>
        </p:nvSpPr>
        <p:spPr>
          <a:xfrm>
            <a:off x="9311335" y="4389120"/>
            <a:ext cx="457200" cy="45720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>
                <a:ea typeface="微软雅黑"/>
              </a:rPr>
              <a:t>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59975" y="4407408"/>
            <a:ext cx="146304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95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</a:defRPr>
            </a:pPr>
            <a:r>
              <a:rPr>
                <a:ea typeface="微软雅黑"/>
              </a:rPr>
              <a:t>本地优先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59975" y="4754880"/>
            <a:ext cx="1463040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</a:defRPr>
            </a:pPr>
            <a:r>
              <a:rPr>
                <a:ea typeface="微软雅黑"/>
              </a:rPr>
              <a:t>数据不出本地，</a:t>
            </a:r>
            <a:br/>
            <a:r>
              <a:rPr>
                <a:ea typeface="微软雅黑"/>
              </a:rPr>
              <a:t>无需联网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</a:defRPr>
            </a:pPr>
            <a:r>
              <a:rPr>
                <a:ea typeface="微软雅黑"/>
              </a:rPr>
              <a:t>基于 README.md 项目描述及核心优势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</a:defRPr>
            </a:pPr>
            <a:r>
              <a:rPr>
                <a:ea typeface="微软雅黑"/>
              </a:rP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914400"/>
            <a:ext cx="109728" cy="109728"/>
          </a:xfrm>
          <a:prstGeom prst="ellipse">
            <a:avLst/>
          </a:prstGeom>
          <a:solidFill>
            <a:srgbClr val="082D4A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</a:p>
        </p:txBody>
      </p:sp>
      <p:sp>
        <p:nvSpPr>
          <p:cNvPr id="5" name="Oval 4"/>
          <p:cNvSpPr/>
          <p:nvPr/>
        </p:nvSpPr>
        <p:spPr>
          <a:xfrm>
            <a:off x="10972800" y="2286000"/>
            <a:ext cx="109728" cy="109728"/>
          </a:xfrm>
          <a:prstGeom prst="ellipse">
            <a:avLst/>
          </a:prstGeom>
          <a:solidFill>
            <a:srgbClr val="082D4A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</a:p>
        </p:txBody>
      </p:sp>
      <p:sp>
        <p:nvSpPr>
          <p:cNvPr id="6" name="Oval 5"/>
          <p:cNvSpPr/>
          <p:nvPr/>
        </p:nvSpPr>
        <p:spPr>
          <a:xfrm>
            <a:off x="10972800" y="3657600"/>
            <a:ext cx="109728" cy="109728"/>
          </a:xfrm>
          <a:prstGeom prst="ellipse">
            <a:avLst/>
          </a:prstGeom>
          <a:solidFill>
            <a:srgbClr val="082D4A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</a:p>
        </p:txBody>
      </p:sp>
      <p:sp>
        <p:nvSpPr>
          <p:cNvPr id="7" name="Oval 6"/>
          <p:cNvSpPr/>
          <p:nvPr/>
        </p:nvSpPr>
        <p:spPr>
          <a:xfrm>
            <a:off x="10972800" y="5029200"/>
            <a:ext cx="109728" cy="109728"/>
          </a:xfrm>
          <a:prstGeom prst="ellipse">
            <a:avLst/>
          </a:prstGeom>
          <a:solidFill>
            <a:srgbClr val="082D4A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6159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</a:defRPr>
            </a:pPr>
            <a:r>
              <a:rPr>
                <a:ea typeface="微软雅黑"/>
              </a:rPr>
              <a:t>开始写作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468880"/>
            <a:ext cx="91440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3079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88AACC"/>
                </a:solidFill>
              </a:defRPr>
            </a:pPr>
            <a:r>
              <a:rPr>
                <a:ea typeface="微软雅黑"/>
              </a:rPr>
              <a:t>让 AI 成为你的写作伙伴，而非替代你的思考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474720"/>
            <a:ext cx="2743200" cy="25400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71600" y="3931920"/>
            <a:ext cx="8229600" cy="731520"/>
          </a:xfrm>
          <a:prstGeom prst="rect">
            <a:avLst/>
          </a:prstGeom>
          <a:solidFill>
            <a:srgbClr val="082D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3931920"/>
            <a:ext cx="76809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ACCDD"/>
                </a:solidFill>
              </a:defRPr>
            </a:pPr>
            <a:r>
              <a:rPr>
                <a:ea typeface="微软雅黑"/>
              </a:rPr>
              <a:t>一键安装：打开 PowerShell，粘贴以下命令并回车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343400"/>
            <a:ext cx="768096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46A00"/>
                </a:solidFill>
              </a:defRPr>
            </a:pPr>
            <a:r>
              <a:rPr>
                <a:ea typeface="微软雅黑"/>
              </a:rPr>
              <a:t>irm https://raw.githubusercontent.com/mingqiaopeng/copilot-writing-tools/master/install | iex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029200"/>
            <a:ext cx="9144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799BB"/>
                </a:solidFill>
              </a:defRPr>
            </a:pPr>
            <a:r>
              <a:rPr>
                <a:ea typeface="微软雅黑"/>
              </a:rPr>
              <a:t>GitHub: github.com/mingqiaopeng/copilot-writing-tools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86666"/>
                </a:solidFill>
              </a:defRPr>
            </a:pPr>
            <a:r>
              <a:rPr>
                <a:ea typeface="微软雅黑"/>
              </a:rPr>
              <a:t>⚠  本项目不包含"从零生成"功能 — 聚焦于构思、分析、评判、重构、优化、润色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6400800"/>
            <a:ext cx="45720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57799"/>
                </a:solidFill>
              </a:defRPr>
            </a:pPr>
            <a:r>
              <a:rPr>
                <a:ea typeface="微软雅黑"/>
              </a:rPr>
              <a:t>MIT License  |  v0.1.0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